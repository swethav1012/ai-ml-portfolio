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7"/>
  </p:notesMasterIdLst>
  <p:handoutMasterIdLst>
    <p:handoutMasterId r:id="rId18"/>
  </p:handoutMasterIdLst>
  <p:sldIdLst>
    <p:sldId id="257" r:id="rId2"/>
    <p:sldId id="258" r:id="rId3"/>
    <p:sldId id="277" r:id="rId4"/>
    <p:sldId id="281" r:id="rId5"/>
    <p:sldId id="268" r:id="rId6"/>
    <p:sldId id="269" r:id="rId7"/>
    <p:sldId id="270" r:id="rId8"/>
    <p:sldId id="278" r:id="rId9"/>
    <p:sldId id="282" r:id="rId10"/>
    <p:sldId id="283" r:id="rId11"/>
    <p:sldId id="284" r:id="rId12"/>
    <p:sldId id="279" r:id="rId13"/>
    <p:sldId id="280" r:id="rId14"/>
    <p:sldId id="285"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639" autoAdjust="0"/>
    <p:restoredTop sz="94660"/>
  </p:normalViewPr>
  <p:slideViewPr>
    <p:cSldViewPr snapToGrid="0">
      <p:cViewPr varScale="1">
        <p:scale>
          <a:sx n="82" d="100"/>
          <a:sy n="82" d="100"/>
        </p:scale>
        <p:origin x="133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ACC1ACF-5112-4DAD-86DD-D82718DF89CC}" type="datetimeFigureOut">
              <a:rPr lang="en-US" smtClean="0"/>
              <a:t>4/8/2025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10067E-43E6-4850-BF76-3907210FE56E}" type="slidenum">
              <a:rPr lang="en-US" smtClean="0"/>
              <a:t>‹#›</a:t>
            </a:fld>
            <a:endParaRPr lang="en-US"/>
          </a:p>
        </p:txBody>
      </p:sp>
    </p:spTree>
    <p:extLst>
      <p:ext uri="{BB962C8B-B14F-4D97-AF65-F5344CB8AC3E}">
        <p14:creationId xmlns:p14="http://schemas.microsoft.com/office/powerpoint/2010/main" val="339751140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8B8B73-94F3-4A0B-B06B-C1189A3F5431}" type="datetimeFigureOut">
              <a:rPr lang="en-US" smtClean="0"/>
              <a:t>4/8/2025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37DEC7-9B37-4F03-A5B7-430C01D5E8F1}" type="slidenum">
              <a:rPr lang="en-US" smtClean="0"/>
              <a:t>‹#›</a:t>
            </a:fld>
            <a:endParaRPr lang="en-US"/>
          </a:p>
        </p:txBody>
      </p:sp>
    </p:spTree>
    <p:extLst>
      <p:ext uri="{BB962C8B-B14F-4D97-AF65-F5344CB8AC3E}">
        <p14:creationId xmlns:p14="http://schemas.microsoft.com/office/powerpoint/2010/main" val="309093887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xfrm>
            <a:off x="1371600" y="1143000"/>
            <a:ext cx="4114800" cy="30861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IN" altLang="en-US"/>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8E9240A-0252-4890-8A04-E7204AF916C1}" type="slidenum">
              <a:rPr lang="en-IN" altLang="en-US" smtClean="0"/>
              <a:t>1</a:t>
            </a:fld>
            <a:endParaRPr lang="en-IN" altLang="en-US"/>
          </a:p>
        </p:txBody>
      </p:sp>
      <p:sp>
        <p:nvSpPr>
          <p:cNvPr id="2" name="Footer Placeholder 1"/>
          <p:cNvSpPr>
            <a:spLocks noGrp="1"/>
          </p:cNvSpPr>
          <p:nvPr>
            <p:ph type="ftr" sz="quarter" idx="4"/>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4940EFD-1272-4D30-B73E-97F4438AC160}" type="datetime1">
              <a:rPr lang="en-US" smtClean="0"/>
              <a:t>4/8/2025</a:t>
            </a:fld>
            <a:endParaRPr lang="en-US"/>
          </a:p>
        </p:txBody>
      </p:sp>
      <p:sp>
        <p:nvSpPr>
          <p:cNvPr id="5" name="Footer Placeholder 4"/>
          <p:cNvSpPr>
            <a:spLocks noGrp="1"/>
          </p:cNvSpPr>
          <p:nvPr>
            <p:ph type="ftr" sz="quarter" idx="11"/>
          </p:nvPr>
        </p:nvSpPr>
        <p:spPr/>
        <p:txBody>
          <a:bodyPr/>
          <a:lstStyle/>
          <a:p>
            <a:r>
              <a:rPr lang="en-US"/>
              <a:t>ICDAIC-24</a:t>
            </a:r>
          </a:p>
        </p:txBody>
      </p:sp>
      <p:sp>
        <p:nvSpPr>
          <p:cNvPr id="6" name="Slide Number Placeholder 5"/>
          <p:cNvSpPr>
            <a:spLocks noGrp="1"/>
          </p:cNvSpPr>
          <p:nvPr>
            <p:ph type="sldNum" sz="quarter" idx="12"/>
          </p:nvPr>
        </p:nvSpPr>
        <p:spPr/>
        <p:txBody>
          <a:bodyPr/>
          <a:lstStyle/>
          <a:p>
            <a:fld id="{E685C1B2-8980-4C97-A56F-705F2C545C6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44BA82A-BD61-4E22-8CD0-82E66C539493}" type="datetime1">
              <a:rPr lang="en-US" smtClean="0"/>
              <a:t>4/8/2025</a:t>
            </a:fld>
            <a:endParaRPr lang="en-US"/>
          </a:p>
        </p:txBody>
      </p:sp>
      <p:sp>
        <p:nvSpPr>
          <p:cNvPr id="5" name="Footer Placeholder 4"/>
          <p:cNvSpPr>
            <a:spLocks noGrp="1"/>
          </p:cNvSpPr>
          <p:nvPr>
            <p:ph type="ftr" sz="quarter" idx="11"/>
          </p:nvPr>
        </p:nvSpPr>
        <p:spPr/>
        <p:txBody>
          <a:bodyPr/>
          <a:lstStyle/>
          <a:p>
            <a:r>
              <a:rPr lang="en-US"/>
              <a:t>ICDAIC-24</a:t>
            </a:r>
          </a:p>
        </p:txBody>
      </p:sp>
      <p:sp>
        <p:nvSpPr>
          <p:cNvPr id="6" name="Slide Number Placeholder 5"/>
          <p:cNvSpPr>
            <a:spLocks noGrp="1"/>
          </p:cNvSpPr>
          <p:nvPr>
            <p:ph type="sldNum" sz="quarter" idx="12"/>
          </p:nvPr>
        </p:nvSpPr>
        <p:spPr/>
        <p:txBody>
          <a:bodyPr/>
          <a:lstStyle/>
          <a:p>
            <a:fld id="{E685C1B2-8980-4C97-A56F-705F2C545C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30F5C33-2080-457F-BDEF-495754E394F3}" type="datetime1">
              <a:rPr lang="en-US" smtClean="0"/>
              <a:t>4/8/2025</a:t>
            </a:fld>
            <a:endParaRPr lang="en-US"/>
          </a:p>
        </p:txBody>
      </p:sp>
      <p:sp>
        <p:nvSpPr>
          <p:cNvPr id="5" name="Footer Placeholder 4"/>
          <p:cNvSpPr>
            <a:spLocks noGrp="1"/>
          </p:cNvSpPr>
          <p:nvPr>
            <p:ph type="ftr" sz="quarter" idx="11"/>
          </p:nvPr>
        </p:nvSpPr>
        <p:spPr/>
        <p:txBody>
          <a:bodyPr/>
          <a:lstStyle/>
          <a:p>
            <a:r>
              <a:rPr lang="en-US"/>
              <a:t>ICDAIC-24</a:t>
            </a:r>
          </a:p>
        </p:txBody>
      </p:sp>
      <p:sp>
        <p:nvSpPr>
          <p:cNvPr id="6" name="Slide Number Placeholder 5"/>
          <p:cNvSpPr>
            <a:spLocks noGrp="1"/>
          </p:cNvSpPr>
          <p:nvPr>
            <p:ph type="sldNum" sz="quarter" idx="12"/>
          </p:nvPr>
        </p:nvSpPr>
        <p:spPr/>
        <p:txBody>
          <a:bodyPr/>
          <a:lstStyle/>
          <a:p>
            <a:fld id="{E685C1B2-8980-4C97-A56F-705F2C545C6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92E6A86-8FD5-4B3B-BD0D-78BF82426712}" type="datetime1">
              <a:rPr lang="en-US" smtClean="0"/>
              <a:t>4/8/2025</a:t>
            </a:fld>
            <a:endParaRPr lang="en-US"/>
          </a:p>
        </p:txBody>
      </p:sp>
      <p:sp>
        <p:nvSpPr>
          <p:cNvPr id="6" name="Footer Placeholder 5"/>
          <p:cNvSpPr>
            <a:spLocks noGrp="1"/>
          </p:cNvSpPr>
          <p:nvPr>
            <p:ph type="ftr" sz="quarter" idx="11"/>
          </p:nvPr>
        </p:nvSpPr>
        <p:spPr/>
        <p:txBody>
          <a:bodyPr/>
          <a:lstStyle/>
          <a:p>
            <a:r>
              <a:rPr lang="en-US"/>
              <a:t>ICDAIC-24</a:t>
            </a:r>
          </a:p>
        </p:txBody>
      </p:sp>
      <p:sp>
        <p:nvSpPr>
          <p:cNvPr id="7" name="Slide Number Placeholder 6"/>
          <p:cNvSpPr>
            <a:spLocks noGrp="1"/>
          </p:cNvSpPr>
          <p:nvPr>
            <p:ph type="sldNum" sz="quarter" idx="12"/>
          </p:nvPr>
        </p:nvSpPr>
        <p:spPr/>
        <p:txBody>
          <a:bodyPr/>
          <a:lstStyle/>
          <a:p>
            <a:fld id="{E685C1B2-8980-4C97-A56F-705F2C545C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2F05E61-6699-4B9E-B53F-D01BC0C8A6D9}" type="datetime1">
              <a:rPr lang="en-US" smtClean="0"/>
              <a:t>4/8/2025</a:t>
            </a:fld>
            <a:endParaRPr lang="en-US"/>
          </a:p>
        </p:txBody>
      </p:sp>
      <p:sp>
        <p:nvSpPr>
          <p:cNvPr id="8" name="Footer Placeholder 7"/>
          <p:cNvSpPr>
            <a:spLocks noGrp="1"/>
          </p:cNvSpPr>
          <p:nvPr>
            <p:ph type="ftr" sz="quarter" idx="11"/>
          </p:nvPr>
        </p:nvSpPr>
        <p:spPr/>
        <p:txBody>
          <a:bodyPr/>
          <a:lstStyle/>
          <a:p>
            <a:r>
              <a:rPr lang="en-US"/>
              <a:t>ICDAIC-24</a:t>
            </a:r>
          </a:p>
        </p:txBody>
      </p:sp>
      <p:sp>
        <p:nvSpPr>
          <p:cNvPr id="9" name="Slide Number Placeholder 8"/>
          <p:cNvSpPr>
            <a:spLocks noGrp="1"/>
          </p:cNvSpPr>
          <p:nvPr>
            <p:ph type="sldNum" sz="quarter" idx="12"/>
          </p:nvPr>
        </p:nvSpPr>
        <p:spPr/>
        <p:txBody>
          <a:bodyPr/>
          <a:lstStyle/>
          <a:p>
            <a:fld id="{E685C1B2-8980-4C97-A56F-705F2C545C6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7165F84-DEC8-4213-B986-BB558D86DBBF}" type="datetime1">
              <a:rPr lang="en-US" smtClean="0"/>
              <a:t>4/8/2025</a:t>
            </a:fld>
            <a:endParaRPr lang="en-US"/>
          </a:p>
        </p:txBody>
      </p:sp>
      <p:sp>
        <p:nvSpPr>
          <p:cNvPr id="4" name="Footer Placeholder 3"/>
          <p:cNvSpPr>
            <a:spLocks noGrp="1"/>
          </p:cNvSpPr>
          <p:nvPr>
            <p:ph type="ftr" sz="quarter" idx="11"/>
          </p:nvPr>
        </p:nvSpPr>
        <p:spPr/>
        <p:txBody>
          <a:bodyPr/>
          <a:lstStyle/>
          <a:p>
            <a:r>
              <a:rPr lang="en-US"/>
              <a:t>ICDAIC-24</a:t>
            </a:r>
          </a:p>
        </p:txBody>
      </p:sp>
      <p:sp>
        <p:nvSpPr>
          <p:cNvPr id="5" name="Slide Number Placeholder 4"/>
          <p:cNvSpPr>
            <a:spLocks noGrp="1"/>
          </p:cNvSpPr>
          <p:nvPr>
            <p:ph type="sldNum" sz="quarter" idx="12"/>
          </p:nvPr>
        </p:nvSpPr>
        <p:spPr/>
        <p:txBody>
          <a:bodyPr/>
          <a:lstStyle/>
          <a:p>
            <a:fld id="{E685C1B2-8980-4C97-A56F-705F2C545C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868C45-B8CD-442D-B0C5-0941EEF617DB}" type="datetime1">
              <a:rPr lang="en-US" smtClean="0"/>
              <a:t>4/8/2025</a:t>
            </a:fld>
            <a:endParaRPr lang="en-US"/>
          </a:p>
        </p:txBody>
      </p:sp>
      <p:sp>
        <p:nvSpPr>
          <p:cNvPr id="3" name="Footer Placeholder 2"/>
          <p:cNvSpPr>
            <a:spLocks noGrp="1"/>
          </p:cNvSpPr>
          <p:nvPr>
            <p:ph type="ftr" sz="quarter" idx="11"/>
          </p:nvPr>
        </p:nvSpPr>
        <p:spPr/>
        <p:txBody>
          <a:bodyPr/>
          <a:lstStyle/>
          <a:p>
            <a:r>
              <a:rPr lang="en-US"/>
              <a:t>ICDAIC-24</a:t>
            </a:r>
          </a:p>
        </p:txBody>
      </p:sp>
      <p:sp>
        <p:nvSpPr>
          <p:cNvPr id="4" name="Slide Number Placeholder 3"/>
          <p:cNvSpPr>
            <a:spLocks noGrp="1"/>
          </p:cNvSpPr>
          <p:nvPr>
            <p:ph type="sldNum" sz="quarter" idx="12"/>
          </p:nvPr>
        </p:nvSpPr>
        <p:spPr/>
        <p:txBody>
          <a:bodyPr/>
          <a:lstStyle/>
          <a:p>
            <a:fld id="{E685C1B2-8980-4C97-A56F-705F2C545C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CC28F6E-A3B7-452F-9153-5B23184BA34C}" type="datetime1">
              <a:rPr lang="en-US" smtClean="0"/>
              <a:t>4/8/2025</a:t>
            </a:fld>
            <a:endParaRPr lang="en-US"/>
          </a:p>
        </p:txBody>
      </p:sp>
      <p:sp>
        <p:nvSpPr>
          <p:cNvPr id="6" name="Footer Placeholder 5"/>
          <p:cNvSpPr>
            <a:spLocks noGrp="1"/>
          </p:cNvSpPr>
          <p:nvPr>
            <p:ph type="ftr" sz="quarter" idx="11"/>
          </p:nvPr>
        </p:nvSpPr>
        <p:spPr/>
        <p:txBody>
          <a:bodyPr/>
          <a:lstStyle/>
          <a:p>
            <a:r>
              <a:rPr lang="en-US"/>
              <a:t>ICDAIC-24</a:t>
            </a:r>
          </a:p>
        </p:txBody>
      </p:sp>
      <p:sp>
        <p:nvSpPr>
          <p:cNvPr id="7" name="Slide Number Placeholder 6"/>
          <p:cNvSpPr>
            <a:spLocks noGrp="1"/>
          </p:cNvSpPr>
          <p:nvPr>
            <p:ph type="sldNum" sz="quarter" idx="12"/>
          </p:nvPr>
        </p:nvSpPr>
        <p:spPr/>
        <p:txBody>
          <a:bodyPr/>
          <a:lstStyle/>
          <a:p>
            <a:fld id="{E685C1B2-8980-4C97-A56F-705F2C545C66}"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C7BAB3-416E-4F7C-9903-48844531044F}" type="datetime1">
              <a:rPr lang="en-US" smtClean="0"/>
              <a:t>4/8/2025</a:t>
            </a:fld>
            <a:endParaRPr lang="en-US"/>
          </a:p>
        </p:txBody>
      </p:sp>
      <p:sp>
        <p:nvSpPr>
          <p:cNvPr id="6" name="Footer Placeholder 5"/>
          <p:cNvSpPr>
            <a:spLocks noGrp="1"/>
          </p:cNvSpPr>
          <p:nvPr>
            <p:ph type="ftr" sz="quarter" idx="11"/>
          </p:nvPr>
        </p:nvSpPr>
        <p:spPr/>
        <p:txBody>
          <a:bodyPr/>
          <a:lstStyle/>
          <a:p>
            <a:r>
              <a:rPr lang="en-US"/>
              <a:t>ICDAIC-24</a:t>
            </a:r>
          </a:p>
        </p:txBody>
      </p:sp>
      <p:sp>
        <p:nvSpPr>
          <p:cNvPr id="7" name="Slide Number Placeholder 6"/>
          <p:cNvSpPr>
            <a:spLocks noGrp="1"/>
          </p:cNvSpPr>
          <p:nvPr>
            <p:ph type="sldNum" sz="quarter" idx="12"/>
          </p:nvPr>
        </p:nvSpPr>
        <p:spPr/>
        <p:txBody>
          <a:bodyPr/>
          <a:lstStyle/>
          <a:p>
            <a:fld id="{E685C1B2-8980-4C97-A56F-705F2C545C66}"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95ED127-EE29-47AD-912F-4485FFB3F691}" type="datetime1">
              <a:rPr lang="en-US" smtClean="0"/>
              <a:t>4/8/2025</a:t>
            </a:fld>
            <a:endParaRPr lang="en-US"/>
          </a:p>
        </p:txBody>
      </p:sp>
      <p:sp>
        <p:nvSpPr>
          <p:cNvPr id="5" name="Footer Placeholder 4"/>
          <p:cNvSpPr>
            <a:spLocks noGrp="1"/>
          </p:cNvSpPr>
          <p:nvPr>
            <p:ph type="ftr" sz="quarter" idx="11"/>
          </p:nvPr>
        </p:nvSpPr>
        <p:spPr/>
        <p:txBody>
          <a:bodyPr/>
          <a:lstStyle/>
          <a:p>
            <a:r>
              <a:rPr lang="en-US"/>
              <a:t>ICDAIC-24</a:t>
            </a:r>
          </a:p>
        </p:txBody>
      </p:sp>
      <p:sp>
        <p:nvSpPr>
          <p:cNvPr id="6" name="Slide Number Placeholder 5"/>
          <p:cNvSpPr>
            <a:spLocks noGrp="1"/>
          </p:cNvSpPr>
          <p:nvPr>
            <p:ph type="sldNum" sz="quarter" idx="12"/>
          </p:nvPr>
        </p:nvSpPr>
        <p:spPr/>
        <p:txBody>
          <a:bodyPr/>
          <a:lstStyle/>
          <a:p>
            <a:fld id="{E685C1B2-8980-4C97-A56F-705F2C545C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DBDAE1-A105-4C99-B9B6-FA8CC8FD9F40}" type="datetime1">
              <a:rPr lang="en-US" smtClean="0"/>
              <a:t>4/8/2025</a:t>
            </a:fld>
            <a:endParaRPr lang="en-US"/>
          </a:p>
        </p:txBody>
      </p:sp>
      <p:sp>
        <p:nvSpPr>
          <p:cNvPr id="5" name="Footer Placeholder 4"/>
          <p:cNvSpPr>
            <a:spLocks noGrp="1"/>
          </p:cNvSpPr>
          <p:nvPr>
            <p:ph type="ftr" sz="quarter" idx="11"/>
          </p:nvPr>
        </p:nvSpPr>
        <p:spPr/>
        <p:txBody>
          <a:bodyPr/>
          <a:lstStyle/>
          <a:p>
            <a:r>
              <a:rPr lang="en-US"/>
              <a:t>ICDAIC-24</a:t>
            </a:r>
          </a:p>
        </p:txBody>
      </p:sp>
      <p:sp>
        <p:nvSpPr>
          <p:cNvPr id="6" name="Slide Number Placeholder 5"/>
          <p:cNvSpPr>
            <a:spLocks noGrp="1"/>
          </p:cNvSpPr>
          <p:nvPr>
            <p:ph type="sldNum" sz="quarter" idx="12"/>
          </p:nvPr>
        </p:nvSpPr>
        <p:spPr/>
        <p:txBody>
          <a:bodyPr/>
          <a:lstStyle/>
          <a:p>
            <a:fld id="{E685C1B2-8980-4C97-A56F-705F2C545C6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5325C9-AFEA-47FC-B23E-5F346AFF7505}" type="datetime1">
              <a:rPr lang="en-US" smtClean="0"/>
              <a:t>4/8/2025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ICDAIC-24</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85C1B2-8980-4C97-A56F-705F2C545C66}"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7" descr="Related image"/>
          <p:cNvSpPr>
            <a:spLocks noChangeAspect="1" noChangeArrowheads="1"/>
          </p:cNvSpPr>
          <p:nvPr/>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IN" altLang="en-US">
              <a:latin typeface="Franklin Gothic Book" panose="020B0503020102020204" pitchFamily="34" charset="0"/>
            </a:endParaRPr>
          </a:p>
        </p:txBody>
      </p:sp>
      <p:sp>
        <p:nvSpPr>
          <p:cNvPr id="20483" name="Rectangle 3"/>
          <p:cNvSpPr>
            <a:spLocks noChangeArrowheads="1"/>
          </p:cNvSpPr>
          <p:nvPr/>
        </p:nvSpPr>
        <p:spPr bwMode="auto">
          <a:xfrm>
            <a:off x="-62649" y="1140650"/>
            <a:ext cx="9144000" cy="1198880"/>
          </a:xfrm>
          <a:prstGeom prst="rect">
            <a:avLst/>
          </a:prstGeom>
          <a:noFill/>
          <a:ln>
            <a:noFill/>
          </a:ln>
          <a:scene3d>
            <a:camera prst="orthographicFront"/>
            <a:lightRig rig="threePt" dir="t"/>
          </a:scene3d>
          <a:sp3d>
            <a:bevelT h="31750"/>
            <a:bevelB prst="relaxedInset"/>
          </a:sp3d>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dirty="0">
              <a:solidFill>
                <a:srgbClr val="C00000"/>
              </a:solidFill>
            </a:endParaRPr>
          </a:p>
          <a:p>
            <a:pPr algn="ctr" eaLnBrk="1" hangingPunct="1">
              <a:defRPr/>
            </a:pPr>
            <a:r>
              <a:rPr lang="en-US" altLang="en-US" b="1" dirty="0">
                <a:solidFill>
                  <a:srgbClr val="990033"/>
                </a:solidFill>
                <a:latin typeface="Times New Roman" panose="02020603050405020304" pitchFamily="18" charset="0"/>
                <a:cs typeface="Times New Roman" panose="02020603050405020304" pitchFamily="18" charset="0"/>
              </a:rPr>
              <a:t>1</a:t>
            </a:r>
            <a:r>
              <a:rPr lang="en-US" altLang="en-US" b="1" baseline="30000" dirty="0">
                <a:solidFill>
                  <a:srgbClr val="990033"/>
                </a:solidFill>
                <a:latin typeface="Times New Roman" panose="02020603050405020304" pitchFamily="18" charset="0"/>
                <a:cs typeface="Times New Roman" panose="02020603050405020304" pitchFamily="18" charset="0"/>
              </a:rPr>
              <a:t>ST</a:t>
            </a:r>
            <a:r>
              <a:rPr lang="en-US" altLang="en-US" b="1" dirty="0">
                <a:solidFill>
                  <a:srgbClr val="990033"/>
                </a:solidFill>
                <a:latin typeface="Times New Roman" panose="02020603050405020304" pitchFamily="18" charset="0"/>
                <a:cs typeface="Times New Roman" panose="02020603050405020304" pitchFamily="18" charset="0"/>
              </a:rPr>
              <a:t> INTERNATIONAL CONFERENCE ON DATA ANALYTICS AND INTELLIGENCE COMPUTING– (ICDAIC-2</a:t>
            </a:r>
            <a:r>
              <a:rPr lang="en-IN" altLang="en-US" b="1" dirty="0">
                <a:solidFill>
                  <a:srgbClr val="990033"/>
                </a:solidFill>
                <a:latin typeface="Times New Roman" panose="02020603050405020304" pitchFamily="18" charset="0"/>
                <a:cs typeface="Times New Roman" panose="02020603050405020304" pitchFamily="18" charset="0"/>
              </a:rPr>
              <a:t>5</a:t>
            </a:r>
            <a:r>
              <a:rPr lang="en-US" altLang="en-US" b="1" dirty="0">
                <a:solidFill>
                  <a:srgbClr val="990033"/>
                </a:solidFill>
              </a:rPr>
              <a:t>)</a:t>
            </a:r>
          </a:p>
          <a:p>
            <a:pPr algn="ctr" eaLnBrk="1" hangingPunct="1">
              <a:defRPr/>
            </a:pPr>
            <a:r>
              <a:rPr lang="en-IN" altLang="en-US" b="1" dirty="0">
                <a:solidFill>
                  <a:srgbClr val="0070C0"/>
                </a:solidFill>
                <a:latin typeface="Times New Roman" panose="02020603050405020304" pitchFamily="18" charset="0"/>
                <a:cs typeface="Times New Roman" panose="02020603050405020304" pitchFamily="18" charset="0"/>
              </a:rPr>
              <a:t>9</a:t>
            </a:r>
            <a:r>
              <a:rPr lang="en-US" altLang="en-US" b="1" baseline="30000" dirty="0">
                <a:solidFill>
                  <a:srgbClr val="0070C0"/>
                </a:solidFill>
                <a:latin typeface="Times New Roman" panose="02020603050405020304" pitchFamily="18" charset="0"/>
                <a:cs typeface="Times New Roman" panose="02020603050405020304" pitchFamily="18" charset="0"/>
              </a:rPr>
              <a:t>th </a:t>
            </a:r>
            <a:r>
              <a:rPr lang="en-US" altLang="en-US" b="1" dirty="0">
                <a:solidFill>
                  <a:srgbClr val="0070C0"/>
                </a:solidFill>
                <a:latin typeface="Times New Roman" panose="02020603050405020304" pitchFamily="18" charset="0"/>
                <a:cs typeface="Times New Roman" panose="02020603050405020304" pitchFamily="18" charset="0"/>
              </a:rPr>
              <a:t> APRIL 202</a:t>
            </a:r>
            <a:r>
              <a:rPr lang="en-IN" altLang="en-US" b="1" dirty="0">
                <a:solidFill>
                  <a:srgbClr val="0070C0"/>
                </a:solidFill>
                <a:latin typeface="Times New Roman" panose="02020603050405020304" pitchFamily="18" charset="0"/>
                <a:cs typeface="Times New Roman" panose="02020603050405020304" pitchFamily="18" charset="0"/>
              </a:rPr>
              <a:t>5</a:t>
            </a:r>
          </a:p>
        </p:txBody>
      </p:sp>
      <p:sp>
        <p:nvSpPr>
          <p:cNvPr id="14342" name="Rectangle 13"/>
          <p:cNvSpPr>
            <a:spLocks noChangeArrowheads="1"/>
          </p:cNvSpPr>
          <p:nvPr/>
        </p:nvSpPr>
        <p:spPr bwMode="auto">
          <a:xfrm>
            <a:off x="-26" y="4790810"/>
            <a:ext cx="9144000" cy="1007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nSpc>
                <a:spcPts val="4584"/>
              </a:lnSpc>
            </a:pPr>
            <a:r>
              <a:rPr lang="en-US" altLang="en-US" sz="1600" b="1" dirty="0">
                <a:solidFill>
                  <a:srgbClr val="002060"/>
                </a:solidFill>
                <a:latin typeface="Times New Roman" panose="02020603050405020304" pitchFamily="18" charset="0"/>
                <a:cs typeface="Times New Roman" panose="02020603050405020304" pitchFamily="18" charset="0"/>
              </a:rPr>
              <a:t>                                               Name:</a:t>
            </a:r>
            <a:r>
              <a:rPr lang="en-US" sz="1600" dirty="0">
                <a:solidFill>
                  <a:srgbClr val="000000"/>
                </a:solidFill>
                <a:latin typeface="Times New Roman"/>
              </a:rPr>
              <a:t> Mr. </a:t>
            </a:r>
            <a:r>
              <a:rPr lang="en-US" sz="1600" dirty="0" err="1">
                <a:solidFill>
                  <a:srgbClr val="000000"/>
                </a:solidFill>
                <a:latin typeface="Times New Roman"/>
              </a:rPr>
              <a:t>Rajesh.S</a:t>
            </a:r>
            <a:r>
              <a:rPr lang="en-US" sz="1600" dirty="0">
                <a:solidFill>
                  <a:srgbClr val="000000"/>
                </a:solidFill>
                <a:latin typeface="Times New Roman"/>
              </a:rPr>
              <a:t>, S. Abinaya, M. Karthika, V. Swetha</a:t>
            </a:r>
            <a:endParaRPr lang="en-US" altLang="en-US" sz="1600" b="1" dirty="0">
              <a:solidFill>
                <a:srgbClr val="002060"/>
              </a:solidFill>
              <a:latin typeface="Times New Roman" panose="02020603050405020304" pitchFamily="18" charset="0"/>
              <a:cs typeface="Times New Roman" panose="02020603050405020304" pitchFamily="18" charset="0"/>
            </a:endParaRPr>
          </a:p>
          <a:p>
            <a:pPr algn="ctr" eaLnBrk="1" hangingPunct="1">
              <a:lnSpc>
                <a:spcPct val="150000"/>
              </a:lnSpc>
            </a:pPr>
            <a:r>
              <a:rPr lang="en-US" altLang="en-US" sz="1600" b="1" dirty="0">
                <a:solidFill>
                  <a:srgbClr val="002060"/>
                </a:solidFill>
                <a:latin typeface="Times New Roman" panose="02020603050405020304" pitchFamily="18" charset="0"/>
                <a:cs typeface="Times New Roman" panose="02020603050405020304" pitchFamily="18" charset="0"/>
              </a:rPr>
              <a:t>     Affiliation: Paavai Engineering College</a:t>
            </a:r>
          </a:p>
        </p:txBody>
      </p:sp>
      <p:sp>
        <p:nvSpPr>
          <p:cNvPr id="25" name="Rectangle 13"/>
          <p:cNvSpPr>
            <a:spLocks noChangeArrowheads="1"/>
          </p:cNvSpPr>
          <p:nvPr/>
        </p:nvSpPr>
        <p:spPr bwMode="auto">
          <a:xfrm>
            <a:off x="0" y="4489301"/>
            <a:ext cx="9144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1" dirty="0">
                <a:solidFill>
                  <a:srgbClr val="C00000"/>
                </a:solidFill>
                <a:latin typeface="Times New Roman" panose="02020603050405020304" pitchFamily="18" charset="0"/>
                <a:cs typeface="Times New Roman" panose="02020603050405020304" pitchFamily="18" charset="0"/>
              </a:rPr>
              <a:t>Presented by,</a:t>
            </a:r>
          </a:p>
        </p:txBody>
      </p:sp>
      <p:pic>
        <p:nvPicPr>
          <p:cNvPr id="4" name="Picture 3" descr="C:/Users/heman/Downloads/LOGO (1).pngLOGO (1)"/>
          <p:cNvPicPr>
            <a:picLocks noChangeAspect="1"/>
          </p:cNvPicPr>
          <p:nvPr/>
        </p:nvPicPr>
        <p:blipFill>
          <a:blip r:embed="rId3"/>
          <a:srcRect t="4916" b="4916"/>
          <a:stretch>
            <a:fillRect/>
          </a:stretch>
        </p:blipFill>
        <p:spPr>
          <a:xfrm>
            <a:off x="-26" y="287"/>
            <a:ext cx="1052145" cy="949028"/>
          </a:xfrm>
          <a:prstGeom prst="rect">
            <a:avLst/>
          </a:prstGeom>
        </p:spPr>
      </p:pic>
      <p:pic>
        <p:nvPicPr>
          <p:cNvPr id="10" name="Pictur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50374" y="0"/>
            <a:ext cx="1648055" cy="828791"/>
          </a:xfrm>
          <a:prstGeom prst="rect">
            <a:avLst/>
          </a:prstGeom>
        </p:spPr>
      </p:pic>
      <p:sp>
        <p:nvSpPr>
          <p:cNvPr id="2" name="Text Box 1"/>
          <p:cNvSpPr txBox="1"/>
          <p:nvPr/>
        </p:nvSpPr>
        <p:spPr>
          <a:xfrm>
            <a:off x="63500" y="2933536"/>
            <a:ext cx="9017851" cy="1384995"/>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THYROID NODULES DETECTION USING </a:t>
            </a:r>
          </a:p>
          <a:p>
            <a:pPr algn="ctr"/>
            <a:r>
              <a:rPr lang="en-US" sz="2800" b="1" dirty="0">
                <a:latin typeface="Times New Roman" panose="02020603050405020304" pitchFamily="18" charset="0"/>
                <a:cs typeface="Times New Roman" panose="02020603050405020304" pitchFamily="18" charset="0"/>
              </a:rPr>
              <a:t>DEEP LEARNING </a:t>
            </a:r>
            <a:endParaRPr lang="en-IN" sz="2800" b="1" dirty="0">
              <a:latin typeface="Times New Roman" panose="02020603050405020304" pitchFamily="18" charset="0"/>
              <a:cs typeface="Times New Roman" panose="02020603050405020304" pitchFamily="18" charset="0"/>
            </a:endParaRPr>
          </a:p>
          <a:p>
            <a:pPr algn="ctr"/>
            <a:endParaRPr lang="en-IN" altLang="en-US" sz="2800" b="1" dirty="0">
              <a:latin typeface="Times New Roman" panose="02020603050405020304" pitchFamily="18" charset="0"/>
              <a:cs typeface="Times New Roman" panose="02020603050405020304" pitchFamily="18" charset="0"/>
            </a:endParaRPr>
          </a:p>
        </p:txBody>
      </p:sp>
      <p:pic>
        <p:nvPicPr>
          <p:cNvPr id="3" name="Picture 2" descr="WhatsApp Image 2025-04-04 at 09.44.55"/>
          <p:cNvPicPr>
            <a:picLocks noChangeAspect="1"/>
          </p:cNvPicPr>
          <p:nvPr/>
        </p:nvPicPr>
        <p:blipFill>
          <a:blip r:embed="rId5"/>
          <a:srcRect l="-382" r="22489"/>
          <a:stretch>
            <a:fillRect/>
          </a:stretch>
        </p:blipFill>
        <p:spPr>
          <a:xfrm>
            <a:off x="1827530" y="168275"/>
            <a:ext cx="5030470" cy="96202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normAutofit/>
          </a:bodyPr>
          <a:lstStyle/>
          <a:p>
            <a:pPr>
              <a:lnSpc>
                <a:spcPct val="150000"/>
              </a:lnSpc>
              <a:defRPr/>
            </a:pPr>
            <a:r>
              <a:rPr lang="en-US" altLang="en-US" b="1" dirty="0">
                <a:solidFill>
                  <a:srgbClr val="990033"/>
                </a:solidFill>
                <a:latin typeface="Times New Roman" panose="02020603050405020304" pitchFamily="18" charset="0"/>
                <a:cs typeface="Times New Roman" panose="02020603050405020304" pitchFamily="18" charset="0"/>
              </a:rPr>
              <a:t>OUTLINE</a:t>
            </a:r>
            <a:endParaRPr lang="en-US" altLang="en-US" sz="1800" b="1" dirty="0">
              <a:solidFill>
                <a:srgbClr val="0070C0"/>
              </a:solidFill>
              <a:latin typeface="Times New Roman" panose="02020603050405020304" pitchFamily="18" charset="0"/>
              <a:cs typeface="Times New Roman" panose="02020603050405020304" pitchFamily="18" charset="0"/>
            </a:endParaRPr>
          </a:p>
        </p:txBody>
      </p:sp>
      <p:sp>
        <p:nvSpPr>
          <p:cNvPr id="16387" name="Content Placeholder 2"/>
          <p:cNvSpPr>
            <a:spLocks noGrp="1"/>
          </p:cNvSpPr>
          <p:nvPr>
            <p:ph idx="1"/>
          </p:nvPr>
        </p:nvSpPr>
        <p:spPr/>
        <p:txBody>
          <a:bodyPr>
            <a:normAutofit fontScale="80000" lnSpcReduction="20000"/>
          </a:bodyPr>
          <a:lstStyle/>
          <a:p>
            <a:pPr eaLnBrk="1" hangingPunct="1">
              <a:lnSpc>
                <a:spcPct val="110000"/>
              </a:lnSpc>
            </a:pPr>
            <a:r>
              <a:rPr lang="en-US" altLang="en-US" b="1" dirty="0">
                <a:latin typeface="Times New Roman" panose="02020603050405020304" pitchFamily="18" charset="0"/>
                <a:cs typeface="Times New Roman" panose="02020603050405020304" pitchFamily="18" charset="0"/>
              </a:rPr>
              <a:t>Abstract</a:t>
            </a:r>
          </a:p>
          <a:p>
            <a:pPr>
              <a:lnSpc>
                <a:spcPct val="110000"/>
              </a:lnSpc>
            </a:pPr>
            <a:r>
              <a:rPr lang="en-US" b="1" dirty="0">
                <a:latin typeface="Times New Roman" panose="02020603050405020304" pitchFamily="18" charset="0"/>
                <a:cs typeface="Times New Roman" panose="02020603050405020304" pitchFamily="18" charset="0"/>
              </a:rPr>
              <a:t>Aim Of The Project </a:t>
            </a:r>
          </a:p>
          <a:p>
            <a:pPr>
              <a:lnSpc>
                <a:spcPct val="110000"/>
              </a:lnSpc>
            </a:pPr>
            <a:r>
              <a:rPr lang="en-US" altLang="en-US" b="1" dirty="0">
                <a:latin typeface="Times New Roman" panose="02020603050405020304" pitchFamily="18" charset="0"/>
                <a:cs typeface="Times New Roman" panose="02020603050405020304" pitchFamily="18" charset="0"/>
              </a:rPr>
              <a:t>Existing System</a:t>
            </a:r>
          </a:p>
          <a:p>
            <a:pPr eaLnBrk="1" hangingPunct="1">
              <a:lnSpc>
                <a:spcPct val="110000"/>
              </a:lnSpc>
            </a:pPr>
            <a:r>
              <a:rPr lang="en-US" altLang="en-US" b="1" dirty="0">
                <a:latin typeface="Times New Roman" panose="02020603050405020304" pitchFamily="18" charset="0"/>
                <a:cs typeface="Times New Roman" panose="02020603050405020304" pitchFamily="18" charset="0"/>
              </a:rPr>
              <a:t>Proposed System</a:t>
            </a:r>
          </a:p>
          <a:p>
            <a:pPr eaLnBrk="1" hangingPunct="1">
              <a:lnSpc>
                <a:spcPct val="110000"/>
              </a:lnSpc>
            </a:pPr>
            <a:r>
              <a:rPr lang="en-US" altLang="en-US" b="1" dirty="0">
                <a:latin typeface="Times New Roman" panose="02020603050405020304" pitchFamily="18" charset="0"/>
                <a:cs typeface="Times New Roman" panose="02020603050405020304" pitchFamily="18" charset="0"/>
              </a:rPr>
              <a:t>Technology used</a:t>
            </a:r>
          </a:p>
          <a:p>
            <a:pPr eaLnBrk="1" hangingPunct="1">
              <a:lnSpc>
                <a:spcPct val="110000"/>
              </a:lnSpc>
            </a:pPr>
            <a:r>
              <a:rPr lang="en-IN" altLang="en-US" b="1" dirty="0">
                <a:latin typeface="Times New Roman" panose="02020603050405020304" pitchFamily="18" charset="0"/>
                <a:cs typeface="Times New Roman" panose="02020603050405020304" pitchFamily="18" charset="0"/>
              </a:rPr>
              <a:t>Modules &amp; Advantages</a:t>
            </a:r>
          </a:p>
          <a:p>
            <a:pPr eaLnBrk="1" hangingPunct="1">
              <a:lnSpc>
                <a:spcPct val="110000"/>
              </a:lnSpc>
            </a:pPr>
            <a:r>
              <a:rPr lang="en-US" altLang="en-US" b="1" dirty="0">
                <a:latin typeface="Times New Roman" panose="02020603050405020304" pitchFamily="18" charset="0"/>
                <a:cs typeface="Times New Roman" panose="02020603050405020304" pitchFamily="18" charset="0"/>
              </a:rPr>
              <a:t>Block Diagram</a:t>
            </a:r>
          </a:p>
          <a:p>
            <a:pPr>
              <a:lnSpc>
                <a:spcPct val="110000"/>
              </a:lnSpc>
            </a:pPr>
            <a:r>
              <a:rPr lang="en-IN" altLang="en-US" b="1" dirty="0">
                <a:latin typeface="Times New Roman" panose="02020603050405020304" pitchFamily="18" charset="0"/>
                <a:cs typeface="Times New Roman" panose="02020603050405020304" pitchFamily="18" charset="0"/>
              </a:rPr>
              <a:t>Results</a:t>
            </a:r>
            <a:endParaRPr lang="en-US" altLang="en-US" b="1" dirty="0">
              <a:latin typeface="Times New Roman" panose="02020603050405020304" pitchFamily="18" charset="0"/>
              <a:cs typeface="Times New Roman" panose="02020603050405020304" pitchFamily="18" charset="0"/>
            </a:endParaRPr>
          </a:p>
          <a:p>
            <a:pPr eaLnBrk="1" hangingPunct="1">
              <a:lnSpc>
                <a:spcPct val="110000"/>
              </a:lnSpc>
            </a:pPr>
            <a:r>
              <a:rPr lang="en-IN" altLang="en-US" b="1" dirty="0">
                <a:latin typeface="Times New Roman" panose="02020603050405020304" pitchFamily="18" charset="0"/>
                <a:cs typeface="Times New Roman" panose="02020603050405020304" pitchFamily="18" charset="0"/>
              </a:rPr>
              <a:t>Conclusion &amp;Future enhancement</a:t>
            </a:r>
            <a:endParaRPr lang="en-US" altLang="en-US" b="1" dirty="0">
              <a:latin typeface="Times New Roman" panose="02020603050405020304" pitchFamily="18" charset="0"/>
              <a:cs typeface="Times New Roman" panose="02020603050405020304" pitchFamily="18" charset="0"/>
            </a:endParaRPr>
          </a:p>
          <a:p>
            <a:pPr eaLnBrk="1" hangingPunct="1">
              <a:lnSpc>
                <a:spcPct val="110000"/>
              </a:lnSpc>
            </a:pPr>
            <a:r>
              <a:rPr lang="en-US" altLang="en-US" b="1" dirty="0">
                <a:latin typeface="Times New Roman" panose="02020603050405020304" pitchFamily="18" charset="0"/>
                <a:cs typeface="Times New Roman" panose="02020603050405020304" pitchFamily="18" charset="0"/>
              </a:rPr>
              <a:t>References</a:t>
            </a:r>
          </a:p>
        </p:txBody>
      </p:sp>
      <p:sp>
        <p:nvSpPr>
          <p:cNvPr id="12" name="Slide Number Placeholder 11"/>
          <p:cNvSpPr>
            <a:spLocks noGrp="1"/>
          </p:cNvSpPr>
          <p:nvPr>
            <p:ph type="sldNum" sz="quarter" idx="12"/>
          </p:nvPr>
        </p:nvSpPr>
        <p:spPr/>
        <p:txBody>
          <a:bodyPr/>
          <a:lstStyle/>
          <a:p>
            <a:fld id="{E685C1B2-8980-4C97-A56F-705F2C545C66}" type="slidenum">
              <a:rPr lang="en-US" smtClean="0"/>
              <a:t>2</a:t>
            </a:fld>
            <a:endParaRPr lang="en-US"/>
          </a:p>
        </p:txBody>
      </p:sp>
      <p:sp>
        <p:nvSpPr>
          <p:cNvPr id="3" name="Footer Placeholder 2"/>
          <p:cNvSpPr>
            <a:spLocks noGrp="1"/>
          </p:cNvSpPr>
          <p:nvPr>
            <p:ph type="ftr" sz="quarter" idx="11"/>
          </p:nvPr>
        </p:nvSpPr>
        <p:spPr/>
        <p:txBody>
          <a:bodyPr/>
          <a:lstStyle/>
          <a:p>
            <a:r>
              <a:rPr lang="en-US"/>
              <a:t>ICDAIC-2</a:t>
            </a:r>
            <a:r>
              <a:rPr lang="en-IN" altLang="en-US"/>
              <a:t>5</a:t>
            </a:r>
          </a:p>
        </p:txBody>
      </p:sp>
      <p:sp>
        <p:nvSpPr>
          <p:cNvPr id="4" name="Date Placeholder 3"/>
          <p:cNvSpPr>
            <a:spLocks noGrp="1"/>
          </p:cNvSpPr>
          <p:nvPr>
            <p:ph type="dt" sz="half" idx="10"/>
          </p:nvPr>
        </p:nvSpPr>
        <p:spPr/>
        <p:txBody>
          <a:bodyPr/>
          <a:lstStyle/>
          <a:p>
            <a:r>
              <a:rPr lang="en-IN" altLang="en-US"/>
              <a:t>09/04/2025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ABSTRACT</a:t>
            </a:r>
            <a:r>
              <a:rPr lang="en-IN" altLang="en-US" sz="3200" b="1"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Thyroid nodules are abnormal growths in the thyroid gland that can be benign or malignant.
Early detection and classification are crucial for effective treatment.
This project utilizes Deep Learning, specifically Convolutional Neural Networks (CNN) with an extended VGG algorithm, to improve accuracy in thyroid nodule detection.
The model processes ultrasound images to differentiate between benign and malignant nodules, reducing dependency on manual diagnosis.</a:t>
            </a:r>
          </a:p>
          <a:p>
            <a:pPr algn="just"/>
            <a:endParaRPr lang="en-US" altLang="en-US" sz="2400" dirty="0"/>
          </a:p>
        </p:txBody>
      </p:sp>
      <p:sp>
        <p:nvSpPr>
          <p:cNvPr id="4" name="Date Placeholder 3"/>
          <p:cNvSpPr>
            <a:spLocks noGrp="1"/>
          </p:cNvSpPr>
          <p:nvPr>
            <p:ph type="dt" sz="half" idx="10"/>
          </p:nvPr>
        </p:nvSpPr>
        <p:spPr/>
        <p:txBody>
          <a:bodyPr/>
          <a:lstStyle/>
          <a:p>
            <a:r>
              <a:rPr lang="en-IN" altLang="en-US"/>
              <a:t>09/04/2025</a:t>
            </a:r>
          </a:p>
        </p:txBody>
      </p:sp>
      <p:sp>
        <p:nvSpPr>
          <p:cNvPr id="5" name="Footer Placeholder 4"/>
          <p:cNvSpPr>
            <a:spLocks noGrp="1"/>
          </p:cNvSpPr>
          <p:nvPr>
            <p:ph type="ftr" sz="quarter" idx="11"/>
          </p:nvPr>
        </p:nvSpPr>
        <p:spPr/>
        <p:txBody>
          <a:bodyPr/>
          <a:lstStyle/>
          <a:p>
            <a:r>
              <a:rPr lang="en-US"/>
              <a:t>ICDAIC-2</a:t>
            </a:r>
            <a:r>
              <a:rPr lang="en-IN" altLang="en-US"/>
              <a:t>5</a:t>
            </a:r>
          </a:p>
        </p:txBody>
      </p:sp>
      <p:sp>
        <p:nvSpPr>
          <p:cNvPr id="6" name="Slide Number Placeholder 5"/>
          <p:cNvSpPr>
            <a:spLocks noGrp="1"/>
          </p:cNvSpPr>
          <p:nvPr>
            <p:ph type="sldNum" sz="quarter" idx="12"/>
          </p:nvPr>
        </p:nvSpPr>
        <p:spPr/>
        <p:txBody>
          <a:bodyPr/>
          <a:lstStyle/>
          <a:p>
            <a:fld id="{E685C1B2-8980-4C97-A56F-705F2C545C66}"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31908-EA2E-498D-5BAB-D0EF0BC6CDC0}"/>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AIM OF THE PROJECT:</a:t>
            </a:r>
            <a:endParaRPr lang="en-IN" sz="3200" dirty="0"/>
          </a:p>
        </p:txBody>
      </p:sp>
      <p:sp>
        <p:nvSpPr>
          <p:cNvPr id="3" name="Content Placeholder 2">
            <a:extLst>
              <a:ext uri="{FF2B5EF4-FFF2-40B4-BE49-F238E27FC236}">
                <a16:creationId xmlns:a16="http://schemas.microsoft.com/office/drawing/2014/main" id="{9FC53C8A-2730-41AA-0AD6-DEB06106E6B4}"/>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To develop an automated, accurate, and efficient deep-learning model for thyroid nodule detection and classification.
To enhance diagnostic accuracy using CNN and an improved VGG algorithm.
To reduce false positives and negatives in thyroid nodule detection.</a:t>
            </a:r>
          </a:p>
        </p:txBody>
      </p:sp>
      <p:sp>
        <p:nvSpPr>
          <p:cNvPr id="4" name="Date Placeholder 3">
            <a:extLst>
              <a:ext uri="{FF2B5EF4-FFF2-40B4-BE49-F238E27FC236}">
                <a16:creationId xmlns:a16="http://schemas.microsoft.com/office/drawing/2014/main" id="{4C8A1780-D2C0-85C9-E928-B1D19598F04C}"/>
              </a:ext>
            </a:extLst>
          </p:cNvPr>
          <p:cNvSpPr>
            <a:spLocks noGrp="1"/>
          </p:cNvSpPr>
          <p:nvPr>
            <p:ph type="dt" sz="half" idx="10"/>
          </p:nvPr>
        </p:nvSpPr>
        <p:spPr/>
        <p:txBody>
          <a:bodyPr/>
          <a:lstStyle/>
          <a:p>
            <a:fld id="{A44BA82A-BD61-4E22-8CD0-82E66C539493}" type="datetime1">
              <a:rPr lang="en-US" smtClean="0"/>
              <a:t>4/8/2025</a:t>
            </a:fld>
            <a:endParaRPr lang="en-US"/>
          </a:p>
        </p:txBody>
      </p:sp>
      <p:sp>
        <p:nvSpPr>
          <p:cNvPr id="5" name="Footer Placeholder 4">
            <a:extLst>
              <a:ext uri="{FF2B5EF4-FFF2-40B4-BE49-F238E27FC236}">
                <a16:creationId xmlns:a16="http://schemas.microsoft.com/office/drawing/2014/main" id="{538B1C3A-7952-BFE5-759A-85DC508F67B7}"/>
              </a:ext>
            </a:extLst>
          </p:cNvPr>
          <p:cNvSpPr>
            <a:spLocks noGrp="1"/>
          </p:cNvSpPr>
          <p:nvPr>
            <p:ph type="ftr" sz="quarter" idx="11"/>
          </p:nvPr>
        </p:nvSpPr>
        <p:spPr/>
        <p:txBody>
          <a:bodyPr/>
          <a:lstStyle/>
          <a:p>
            <a:r>
              <a:rPr lang="en-US"/>
              <a:t>ICDAIC-24</a:t>
            </a:r>
          </a:p>
        </p:txBody>
      </p:sp>
      <p:sp>
        <p:nvSpPr>
          <p:cNvPr id="6" name="Slide Number Placeholder 5">
            <a:extLst>
              <a:ext uri="{FF2B5EF4-FFF2-40B4-BE49-F238E27FC236}">
                <a16:creationId xmlns:a16="http://schemas.microsoft.com/office/drawing/2014/main" id="{7AD545A7-CD01-841A-568E-5DA96D18A37F}"/>
              </a:ext>
            </a:extLst>
          </p:cNvPr>
          <p:cNvSpPr>
            <a:spLocks noGrp="1"/>
          </p:cNvSpPr>
          <p:nvPr>
            <p:ph type="sldNum" sz="quarter" idx="12"/>
          </p:nvPr>
        </p:nvSpPr>
        <p:spPr/>
        <p:txBody>
          <a:bodyPr/>
          <a:lstStyle/>
          <a:p>
            <a:fld id="{E685C1B2-8980-4C97-A56F-705F2C545C66}" type="slidenum">
              <a:rPr lang="en-US" smtClean="0"/>
              <a:t>4</a:t>
            </a:fld>
            <a:endParaRPr lang="en-US"/>
          </a:p>
        </p:txBody>
      </p:sp>
    </p:spTree>
    <p:extLst>
      <p:ext uri="{BB962C8B-B14F-4D97-AF65-F5344CB8AC3E}">
        <p14:creationId xmlns:p14="http://schemas.microsoft.com/office/powerpoint/2010/main" val="905482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EXISTING SYSTEM</a:t>
            </a:r>
            <a:r>
              <a:rPr lang="en-IN" altLang="en-US" sz="3200" b="1"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Traditional diagnosis relies on ultrasound imaging and manual expert evaluation.
Machine learning models exist but often suffer from low accuracy and high false-positive rates.
Lack of a standardized deep-learning approach for robust classification.</a:t>
            </a:r>
          </a:p>
          <a:p>
            <a:endParaRPr lang="en-US" altLang="en-US" sz="2400" dirty="0"/>
          </a:p>
        </p:txBody>
      </p:sp>
      <p:sp>
        <p:nvSpPr>
          <p:cNvPr id="4" name="Date Placeholder 3"/>
          <p:cNvSpPr>
            <a:spLocks noGrp="1"/>
          </p:cNvSpPr>
          <p:nvPr>
            <p:ph type="dt" sz="half" idx="10"/>
          </p:nvPr>
        </p:nvSpPr>
        <p:spPr/>
        <p:txBody>
          <a:bodyPr/>
          <a:lstStyle/>
          <a:p>
            <a:r>
              <a:rPr lang="en-IN" altLang="en-US"/>
              <a:t>09/04/2025</a:t>
            </a:r>
          </a:p>
        </p:txBody>
      </p:sp>
      <p:sp>
        <p:nvSpPr>
          <p:cNvPr id="5" name="Footer Placeholder 4"/>
          <p:cNvSpPr>
            <a:spLocks noGrp="1"/>
          </p:cNvSpPr>
          <p:nvPr>
            <p:ph type="ftr" sz="quarter" idx="11"/>
          </p:nvPr>
        </p:nvSpPr>
        <p:spPr/>
        <p:txBody>
          <a:bodyPr/>
          <a:lstStyle/>
          <a:p>
            <a:r>
              <a:rPr lang="en-US"/>
              <a:t>ICDAIC-2</a:t>
            </a:r>
            <a:r>
              <a:rPr lang="en-IN" altLang="en-US"/>
              <a:t>5</a:t>
            </a:r>
          </a:p>
        </p:txBody>
      </p:sp>
      <p:sp>
        <p:nvSpPr>
          <p:cNvPr id="6" name="Slide Number Placeholder 5"/>
          <p:cNvSpPr>
            <a:spLocks noGrp="1"/>
          </p:cNvSpPr>
          <p:nvPr>
            <p:ph type="sldNum" sz="quarter" idx="12"/>
          </p:nvPr>
        </p:nvSpPr>
        <p:spPr/>
        <p:txBody>
          <a:bodyPr/>
          <a:lstStyle/>
          <a:p>
            <a:fld id="{E685C1B2-8980-4C97-A56F-705F2C545C66}"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3870" y="422911"/>
            <a:ext cx="7886700" cy="1325563"/>
          </a:xfrm>
        </p:spPr>
        <p:txBody>
          <a:bodyPr/>
          <a:lstStyle/>
          <a:p>
            <a:r>
              <a:rPr lang="en-US" sz="3200" b="1" dirty="0">
                <a:latin typeface="Times New Roman" panose="02020603050405020304" pitchFamily="18" charset="0"/>
                <a:cs typeface="Times New Roman" panose="02020603050405020304" pitchFamily="18" charset="0"/>
              </a:rPr>
              <a:t>PROPOSED SYSTEM</a:t>
            </a:r>
            <a:r>
              <a:rPr lang="en-IN" altLang="en-US" sz="3200" b="1" dirty="0">
                <a:latin typeface="Times New Roman" panose="02020603050405020304" pitchFamily="18" charset="0"/>
                <a:cs typeface="Times New Roman" panose="02020603050405020304" pitchFamily="18" charset="0"/>
              </a:rPr>
              <a:t>:</a:t>
            </a:r>
          </a:p>
        </p:txBody>
      </p:sp>
      <p:sp>
        <p:nvSpPr>
          <p:cNvPr id="4" name="Date Placeholder 3"/>
          <p:cNvSpPr>
            <a:spLocks noGrp="1"/>
          </p:cNvSpPr>
          <p:nvPr>
            <p:ph type="dt" sz="half" idx="10"/>
          </p:nvPr>
        </p:nvSpPr>
        <p:spPr/>
        <p:txBody>
          <a:bodyPr/>
          <a:lstStyle/>
          <a:p>
            <a:r>
              <a:rPr lang="en-IN" altLang="en-US"/>
              <a:t>09/04/2025</a:t>
            </a:r>
          </a:p>
        </p:txBody>
      </p:sp>
      <p:sp>
        <p:nvSpPr>
          <p:cNvPr id="5" name="Footer Placeholder 4"/>
          <p:cNvSpPr>
            <a:spLocks noGrp="1"/>
          </p:cNvSpPr>
          <p:nvPr>
            <p:ph type="ftr" sz="quarter" idx="11"/>
          </p:nvPr>
        </p:nvSpPr>
        <p:spPr/>
        <p:txBody>
          <a:bodyPr/>
          <a:lstStyle/>
          <a:p>
            <a:r>
              <a:rPr lang="en-US"/>
              <a:t>ICDAIC-2</a:t>
            </a:r>
            <a:r>
              <a:rPr lang="en-IN" altLang="en-US"/>
              <a:t>5</a:t>
            </a:r>
          </a:p>
        </p:txBody>
      </p:sp>
      <p:sp>
        <p:nvSpPr>
          <p:cNvPr id="6" name="Slide Number Placeholder 5"/>
          <p:cNvSpPr>
            <a:spLocks noGrp="1"/>
          </p:cNvSpPr>
          <p:nvPr>
            <p:ph type="sldNum" sz="quarter" idx="12"/>
          </p:nvPr>
        </p:nvSpPr>
        <p:spPr/>
        <p:txBody>
          <a:bodyPr/>
          <a:lstStyle/>
          <a:p>
            <a:fld id="{E685C1B2-8980-4C97-A56F-705F2C545C66}" type="slidenum">
              <a:rPr lang="en-US" smtClean="0"/>
              <a:t>6</a:t>
            </a:fld>
            <a:endParaRPr lang="en-US"/>
          </a:p>
        </p:txBody>
      </p:sp>
      <p:sp>
        <p:nvSpPr>
          <p:cNvPr id="3" name="Content Placeholder 2"/>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Develops a deep-learning model using CNN and VGG extension to improve accuracy.
Automates feature extraction from ultrasound images to differentiate nodules.
Reduces human intervention while enhancing early and precise diagnosis.
Utilizes advanced image processing techniques for better detection performance.</a:t>
            </a:r>
          </a:p>
          <a:p>
            <a:pPr marL="0" indent="0">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TECHNOLOGY USED:</a:t>
            </a:r>
          </a:p>
        </p:txBody>
      </p:sp>
      <p:sp>
        <p:nvSpPr>
          <p:cNvPr id="3" name="Content Placeholder 2"/>
          <p:cNvSpPr>
            <a:spLocks noGrp="1"/>
          </p:cNvSpPr>
          <p:nvPr>
            <p:ph idx="1"/>
          </p:nvPr>
        </p:nvSpPr>
        <p:spPr>
          <a:xfrm>
            <a:off x="628650" y="1691005"/>
            <a:ext cx="7886700" cy="4351338"/>
          </a:xfrm>
        </p:spPr>
        <p:txBody>
          <a:bodyPr/>
          <a:lstStyle/>
          <a:p>
            <a:r>
              <a:rPr lang="en-US" sz="2400" dirty="0">
                <a:latin typeface="Times New Roman" panose="02020603050405020304" pitchFamily="18" charset="0"/>
                <a:cs typeface="Times New Roman" panose="02020603050405020304" pitchFamily="18" charset="0"/>
              </a:rPr>
              <a:t>Deep Learning Framework: TensorFlow/</a:t>
            </a:r>
            <a:r>
              <a:rPr lang="en-US" sz="2400" dirty="0" err="1">
                <a:latin typeface="Times New Roman" panose="02020603050405020304" pitchFamily="18" charset="0"/>
                <a:cs typeface="Times New Roman" panose="02020603050405020304" pitchFamily="18" charset="0"/>
              </a:rPr>
              <a:t>Keras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PyTorch</a:t>
            </a:r>
            <a:r>
              <a:rPr lang="en-US" sz="2400" dirty="0">
                <a:latin typeface="Times New Roman" panose="02020603050405020304" pitchFamily="18" charset="0"/>
                <a:cs typeface="Times New Roman" panose="02020603050405020304" pitchFamily="18" charset="0"/>
              </a:rPr>
              <a:t>
Algorithms: CNN, VGG Extension (VGG-16/VGG-19 modifications)
Programming Language: Python
Image Processing: OpenCV, PIL
Dataset: DDTI, Stanford Thyroid Ultrasound Cine Clips,             and Publicly available thyroid ultrasound image datasets</a:t>
            </a:r>
          </a:p>
          <a:p>
            <a:pPr marL="0" indent="0"/>
            <a:endParaRPr lang="en-US" altLang="en-US" sz="2400" dirty="0"/>
          </a:p>
        </p:txBody>
      </p:sp>
      <p:sp>
        <p:nvSpPr>
          <p:cNvPr id="4" name="Date Placeholder 3"/>
          <p:cNvSpPr>
            <a:spLocks noGrp="1"/>
          </p:cNvSpPr>
          <p:nvPr>
            <p:ph type="dt" sz="half" idx="10"/>
          </p:nvPr>
        </p:nvSpPr>
        <p:spPr/>
        <p:txBody>
          <a:bodyPr/>
          <a:lstStyle/>
          <a:p>
            <a:r>
              <a:rPr lang="en-IN" altLang="en-US"/>
              <a:t>09/04/2025</a:t>
            </a:r>
          </a:p>
        </p:txBody>
      </p:sp>
      <p:sp>
        <p:nvSpPr>
          <p:cNvPr id="5" name="Footer Placeholder 4"/>
          <p:cNvSpPr>
            <a:spLocks noGrp="1"/>
          </p:cNvSpPr>
          <p:nvPr>
            <p:ph type="ftr" sz="quarter" idx="11"/>
          </p:nvPr>
        </p:nvSpPr>
        <p:spPr/>
        <p:txBody>
          <a:bodyPr/>
          <a:lstStyle/>
          <a:p>
            <a:r>
              <a:rPr lang="en-US"/>
              <a:t>ICDAIC-2</a:t>
            </a:r>
            <a:r>
              <a:rPr lang="en-IN" altLang="en-US"/>
              <a:t>5</a:t>
            </a:r>
          </a:p>
        </p:txBody>
      </p:sp>
      <p:sp>
        <p:nvSpPr>
          <p:cNvPr id="6" name="Slide Number Placeholder 5"/>
          <p:cNvSpPr>
            <a:spLocks noGrp="1"/>
          </p:cNvSpPr>
          <p:nvPr>
            <p:ph type="sldNum" sz="quarter" idx="12"/>
          </p:nvPr>
        </p:nvSpPr>
        <p:spPr/>
        <p:txBody>
          <a:bodyPr/>
          <a:lstStyle/>
          <a:p>
            <a:fld id="{E685C1B2-8980-4C97-A56F-705F2C545C66}"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MODULES :</a:t>
            </a:r>
          </a:p>
        </p:txBody>
      </p:sp>
      <p:sp>
        <p:nvSpPr>
          <p:cNvPr id="3" name="Content Placeholder 2"/>
          <p:cNvSpPr>
            <a:spLocks noGrp="1"/>
          </p:cNvSpPr>
          <p:nvPr>
            <p:ph idx="1"/>
          </p:nvPr>
        </p:nvSpPr>
        <p:spPr>
          <a:xfrm>
            <a:off x="628650" y="1480851"/>
            <a:ext cx="7886700" cy="4875500"/>
          </a:xfrm>
        </p:spPr>
        <p:txBody>
          <a:bodyPr>
            <a:noAutofit/>
          </a:bodyPr>
          <a:lstStyle/>
          <a:p>
            <a:pPr>
              <a:buNone/>
            </a:pPr>
            <a:r>
              <a:rPr lang="en-IN" sz="2400" b="1" dirty="0">
                <a:latin typeface="Times New Roman" panose="02020603050405020304" pitchFamily="18" charset="0"/>
                <a:cs typeface="Times New Roman" panose="02020603050405020304" pitchFamily="18" charset="0"/>
              </a:rPr>
              <a:t>Thyroid Ultrasound Image</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Raw ultrasound image of the thyroid gland.</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Contains structural info and potential nodules.</a:t>
            </a:r>
          </a:p>
          <a:p>
            <a:pPr>
              <a:buNone/>
            </a:pPr>
            <a:r>
              <a:rPr lang="en-IN" sz="2400" b="1" dirty="0">
                <a:latin typeface="Times New Roman" panose="02020603050405020304" pitchFamily="18" charset="0"/>
                <a:cs typeface="Times New Roman" panose="02020603050405020304" pitchFamily="18" charset="0"/>
              </a:rPr>
              <a:t>Preprocessing</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Enhances image quality for analysis.</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Includes noise reduction, contrast/brightness adjustments, artifact removal.</a:t>
            </a:r>
          </a:p>
          <a:p>
            <a:pPr>
              <a:buNone/>
            </a:pPr>
            <a:r>
              <a:rPr lang="en-IN" sz="2400" b="1" dirty="0">
                <a:latin typeface="Times New Roman" panose="02020603050405020304" pitchFamily="18" charset="0"/>
                <a:cs typeface="Times New Roman" panose="02020603050405020304" pitchFamily="18" charset="0"/>
              </a:rPr>
              <a:t>Image Augmentation</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Increases dataset size and diversity.</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Techniques: rotation, flip, zoom, translation, added noise.</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Improves generalization and reduces overfitting.</a:t>
            </a:r>
          </a:p>
        </p:txBody>
      </p:sp>
      <p:sp>
        <p:nvSpPr>
          <p:cNvPr id="4" name="Date Placeholder 3"/>
          <p:cNvSpPr>
            <a:spLocks noGrp="1"/>
          </p:cNvSpPr>
          <p:nvPr>
            <p:ph type="dt" sz="half" idx="10"/>
          </p:nvPr>
        </p:nvSpPr>
        <p:spPr/>
        <p:txBody>
          <a:bodyPr/>
          <a:lstStyle/>
          <a:p>
            <a:r>
              <a:rPr lang="en-IN" altLang="en-US"/>
              <a:t>09/04/2025</a:t>
            </a:r>
          </a:p>
        </p:txBody>
      </p:sp>
      <p:sp>
        <p:nvSpPr>
          <p:cNvPr id="5" name="Footer Placeholder 4"/>
          <p:cNvSpPr>
            <a:spLocks noGrp="1"/>
          </p:cNvSpPr>
          <p:nvPr>
            <p:ph type="ftr" sz="quarter" idx="11"/>
          </p:nvPr>
        </p:nvSpPr>
        <p:spPr/>
        <p:txBody>
          <a:bodyPr/>
          <a:lstStyle/>
          <a:p>
            <a:r>
              <a:rPr lang="en-US"/>
              <a:t>ICDAIC-2</a:t>
            </a:r>
            <a:r>
              <a:rPr lang="en-IN" altLang="en-US"/>
              <a:t>5</a:t>
            </a:r>
          </a:p>
        </p:txBody>
      </p:sp>
      <p:sp>
        <p:nvSpPr>
          <p:cNvPr id="6" name="Slide Number Placeholder 5"/>
          <p:cNvSpPr>
            <a:spLocks noGrp="1"/>
          </p:cNvSpPr>
          <p:nvPr>
            <p:ph type="sldNum" sz="quarter" idx="12"/>
          </p:nvPr>
        </p:nvSpPr>
        <p:spPr/>
        <p:txBody>
          <a:bodyPr/>
          <a:lstStyle/>
          <a:p>
            <a:fld id="{E685C1B2-8980-4C97-A56F-705F2C545C66}"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DBDBA9-483D-7077-36FD-7F9C4E958727}"/>
              </a:ext>
            </a:extLst>
          </p:cNvPr>
          <p:cNvSpPr>
            <a:spLocks noGrp="1"/>
          </p:cNvSpPr>
          <p:nvPr>
            <p:ph idx="1"/>
          </p:nvPr>
        </p:nvSpPr>
        <p:spPr>
          <a:xfrm>
            <a:off x="628650" y="344774"/>
            <a:ext cx="7886700" cy="5832189"/>
          </a:xfrm>
        </p:spPr>
        <p:txBody>
          <a:bodyPr>
            <a:normAutofit fontScale="92500" lnSpcReduction="10000"/>
          </a:bodyPr>
          <a:lstStyle/>
          <a:p>
            <a:pPr>
              <a:lnSpc>
                <a:spcPct val="110000"/>
              </a:lnSpc>
              <a:buNone/>
            </a:pPr>
            <a:r>
              <a:rPr lang="en-US" sz="2400" b="1" dirty="0">
                <a:latin typeface="Times New Roman" panose="02020603050405020304" pitchFamily="18" charset="0"/>
                <a:cs typeface="Times New Roman" panose="02020603050405020304" pitchFamily="18" charset="0"/>
              </a:rPr>
              <a:t>CNN Feature Extraction</a:t>
            </a:r>
          </a:p>
          <a:p>
            <a:pPr>
              <a:lnSpc>
                <a:spcPct val="110000"/>
              </a:lnSpc>
            </a:pPr>
            <a:r>
              <a:rPr lang="en-US" sz="2400" dirty="0">
                <a:latin typeface="Times New Roman" panose="02020603050405020304" pitchFamily="18" charset="0"/>
                <a:cs typeface="Times New Roman" panose="02020603050405020304" pitchFamily="18" charset="0"/>
              </a:rPr>
              <a:t>Uses CNN to extract key image features.</a:t>
            </a:r>
          </a:p>
          <a:p>
            <a:pPr>
              <a:lnSpc>
                <a:spcPct val="110000"/>
              </a:lnSpc>
            </a:pPr>
            <a:r>
              <a:rPr lang="en-US" sz="2400" dirty="0">
                <a:latin typeface="Times New Roman" panose="02020603050405020304" pitchFamily="18" charset="0"/>
                <a:cs typeface="Times New Roman" panose="02020603050405020304" pitchFamily="18" charset="0"/>
              </a:rPr>
              <a:t>Learns from basic textures to complex patterns.</a:t>
            </a:r>
          </a:p>
          <a:p>
            <a:pPr>
              <a:lnSpc>
                <a:spcPct val="110000"/>
              </a:lnSpc>
            </a:pPr>
            <a:r>
              <a:rPr lang="en-US" sz="2400" dirty="0">
                <a:latin typeface="Times New Roman" panose="02020603050405020304" pitchFamily="18" charset="0"/>
                <a:cs typeface="Times New Roman" panose="02020603050405020304" pitchFamily="18" charset="0"/>
              </a:rPr>
              <a:t>Automates feature learning for image analysis.</a:t>
            </a:r>
          </a:p>
          <a:p>
            <a:pPr>
              <a:lnSpc>
                <a:spcPct val="110000"/>
              </a:lnSpc>
              <a:buNone/>
            </a:pPr>
            <a:r>
              <a:rPr lang="en-US" sz="2400" b="1" dirty="0">
                <a:latin typeface="Times New Roman" panose="02020603050405020304" pitchFamily="18" charset="0"/>
                <a:cs typeface="Times New Roman" panose="02020603050405020304" pitchFamily="18" charset="0"/>
              </a:rPr>
              <a:t>VGG Extension Deeper Feature Refinement</a:t>
            </a:r>
          </a:p>
          <a:p>
            <a:pPr>
              <a:lnSpc>
                <a:spcPct val="11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Refines features using a pre-trained or extended VGG model.</a:t>
            </a:r>
          </a:p>
          <a:p>
            <a:pPr>
              <a:lnSpc>
                <a:spcPct val="11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Adds layers or fine-tunes for thyroid-specific data.</a:t>
            </a:r>
          </a:p>
          <a:p>
            <a:pPr>
              <a:lnSpc>
                <a:spcPct val="11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Captures subtle and detailed image patterns.</a:t>
            </a:r>
          </a:p>
          <a:p>
            <a:pPr>
              <a:lnSpc>
                <a:spcPct val="110000"/>
              </a:lnSpc>
              <a:buNone/>
            </a:pPr>
            <a:r>
              <a:rPr lang="en-US" sz="2400" b="1" dirty="0">
                <a:latin typeface="Times New Roman" panose="02020603050405020304" pitchFamily="18" charset="0"/>
                <a:cs typeface="Times New Roman" panose="02020603050405020304" pitchFamily="18" charset="0"/>
              </a:rPr>
              <a:t>Feature Fusion</a:t>
            </a:r>
          </a:p>
          <a:p>
            <a:pPr>
              <a:lnSpc>
                <a:spcPct val="11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Combines multiple features (textures, edges, shapes).</a:t>
            </a:r>
          </a:p>
          <a:p>
            <a:pPr>
              <a:lnSpc>
                <a:spcPct val="11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a more complete image understanding.</a:t>
            </a:r>
          </a:p>
          <a:p>
            <a:pPr>
              <a:lnSpc>
                <a:spcPct val="11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Boosts accuracy in identifying nodules.</a:t>
            </a:r>
          </a:p>
          <a:p>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F5F3B4E-5CC0-3F28-A396-DEF1F4B8FFFE}"/>
              </a:ext>
            </a:extLst>
          </p:cNvPr>
          <p:cNvSpPr>
            <a:spLocks noGrp="1"/>
          </p:cNvSpPr>
          <p:nvPr>
            <p:ph type="dt" sz="half" idx="10"/>
          </p:nvPr>
        </p:nvSpPr>
        <p:spPr/>
        <p:txBody>
          <a:bodyPr/>
          <a:lstStyle/>
          <a:p>
            <a:fld id="{A44BA82A-BD61-4E22-8CD0-82E66C539493}" type="datetime1">
              <a:rPr lang="en-US" smtClean="0"/>
              <a:t>4/8/2025</a:t>
            </a:fld>
            <a:endParaRPr lang="en-US"/>
          </a:p>
        </p:txBody>
      </p:sp>
      <p:sp>
        <p:nvSpPr>
          <p:cNvPr id="5" name="Footer Placeholder 4">
            <a:extLst>
              <a:ext uri="{FF2B5EF4-FFF2-40B4-BE49-F238E27FC236}">
                <a16:creationId xmlns:a16="http://schemas.microsoft.com/office/drawing/2014/main" id="{AB1D22A2-B66E-F5F0-DE06-4F249742E966}"/>
              </a:ext>
            </a:extLst>
          </p:cNvPr>
          <p:cNvSpPr>
            <a:spLocks noGrp="1"/>
          </p:cNvSpPr>
          <p:nvPr>
            <p:ph type="ftr" sz="quarter" idx="11"/>
          </p:nvPr>
        </p:nvSpPr>
        <p:spPr/>
        <p:txBody>
          <a:bodyPr/>
          <a:lstStyle/>
          <a:p>
            <a:r>
              <a:rPr lang="en-US"/>
              <a:t>ICDAIC-24</a:t>
            </a:r>
          </a:p>
        </p:txBody>
      </p:sp>
      <p:sp>
        <p:nvSpPr>
          <p:cNvPr id="6" name="Slide Number Placeholder 5">
            <a:extLst>
              <a:ext uri="{FF2B5EF4-FFF2-40B4-BE49-F238E27FC236}">
                <a16:creationId xmlns:a16="http://schemas.microsoft.com/office/drawing/2014/main" id="{4909900F-D779-7FD2-C13F-7D8270314816}"/>
              </a:ext>
            </a:extLst>
          </p:cNvPr>
          <p:cNvSpPr>
            <a:spLocks noGrp="1"/>
          </p:cNvSpPr>
          <p:nvPr>
            <p:ph type="sldNum" sz="quarter" idx="12"/>
          </p:nvPr>
        </p:nvSpPr>
        <p:spPr/>
        <p:txBody>
          <a:bodyPr/>
          <a:lstStyle/>
          <a:p>
            <a:fld id="{E685C1B2-8980-4C97-A56F-705F2C545C66}" type="slidenum">
              <a:rPr lang="en-US" smtClean="0"/>
              <a:t>9</a:t>
            </a:fld>
            <a:endParaRPr lang="en-US"/>
          </a:p>
        </p:txBody>
      </p:sp>
    </p:spTree>
    <p:extLst>
      <p:ext uri="{BB962C8B-B14F-4D97-AF65-F5344CB8AC3E}">
        <p14:creationId xmlns:p14="http://schemas.microsoft.com/office/powerpoint/2010/main" val="2842662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E42E121-2D6A-ADF9-7EBB-EE241879EA6E}"/>
              </a:ext>
            </a:extLst>
          </p:cNvPr>
          <p:cNvSpPr>
            <a:spLocks noGrp="1"/>
          </p:cNvSpPr>
          <p:nvPr>
            <p:ph type="dt" sz="half" idx="10"/>
          </p:nvPr>
        </p:nvSpPr>
        <p:spPr/>
        <p:txBody>
          <a:bodyPr/>
          <a:lstStyle/>
          <a:p>
            <a:fld id="{A44BA82A-BD61-4E22-8CD0-82E66C539493}" type="datetime1">
              <a:rPr lang="en-US" smtClean="0"/>
              <a:t>4/8/2025</a:t>
            </a:fld>
            <a:endParaRPr lang="en-US"/>
          </a:p>
        </p:txBody>
      </p:sp>
      <p:sp>
        <p:nvSpPr>
          <p:cNvPr id="5" name="Footer Placeholder 4">
            <a:extLst>
              <a:ext uri="{FF2B5EF4-FFF2-40B4-BE49-F238E27FC236}">
                <a16:creationId xmlns:a16="http://schemas.microsoft.com/office/drawing/2014/main" id="{893426D8-8FAA-0360-BDBE-B351C23CD330}"/>
              </a:ext>
            </a:extLst>
          </p:cNvPr>
          <p:cNvSpPr>
            <a:spLocks noGrp="1"/>
          </p:cNvSpPr>
          <p:nvPr>
            <p:ph type="ftr" sz="quarter" idx="11"/>
          </p:nvPr>
        </p:nvSpPr>
        <p:spPr/>
        <p:txBody>
          <a:bodyPr/>
          <a:lstStyle/>
          <a:p>
            <a:r>
              <a:rPr lang="en-US"/>
              <a:t>ICDAIC-24</a:t>
            </a:r>
          </a:p>
        </p:txBody>
      </p:sp>
      <p:sp>
        <p:nvSpPr>
          <p:cNvPr id="6" name="Slide Number Placeholder 5">
            <a:extLst>
              <a:ext uri="{FF2B5EF4-FFF2-40B4-BE49-F238E27FC236}">
                <a16:creationId xmlns:a16="http://schemas.microsoft.com/office/drawing/2014/main" id="{94CB990D-D016-EE6E-AB84-242E2794C2CA}"/>
              </a:ext>
            </a:extLst>
          </p:cNvPr>
          <p:cNvSpPr>
            <a:spLocks noGrp="1"/>
          </p:cNvSpPr>
          <p:nvPr>
            <p:ph type="sldNum" sz="quarter" idx="12"/>
          </p:nvPr>
        </p:nvSpPr>
        <p:spPr/>
        <p:txBody>
          <a:bodyPr/>
          <a:lstStyle/>
          <a:p>
            <a:fld id="{E685C1B2-8980-4C97-A56F-705F2C545C66}" type="slidenum">
              <a:rPr lang="en-US" smtClean="0"/>
              <a:t>10</a:t>
            </a:fld>
            <a:endParaRPr lang="en-US"/>
          </a:p>
        </p:txBody>
      </p:sp>
      <p:sp>
        <p:nvSpPr>
          <p:cNvPr id="11" name="TextBox 10">
            <a:extLst>
              <a:ext uri="{FF2B5EF4-FFF2-40B4-BE49-F238E27FC236}">
                <a16:creationId xmlns:a16="http://schemas.microsoft.com/office/drawing/2014/main" id="{6EDB5059-2156-EE57-3A00-781254B0A9EB}"/>
              </a:ext>
            </a:extLst>
          </p:cNvPr>
          <p:cNvSpPr txBox="1"/>
          <p:nvPr/>
        </p:nvSpPr>
        <p:spPr>
          <a:xfrm>
            <a:off x="628650" y="298580"/>
            <a:ext cx="8030157" cy="6278642"/>
          </a:xfrm>
          <a:prstGeom prst="rect">
            <a:avLst/>
          </a:prstGeom>
          <a:noFill/>
        </p:spPr>
        <p:txBody>
          <a:bodyPr wrap="square" rtlCol="0">
            <a:spAutoFit/>
          </a:bodyPr>
          <a:lstStyle/>
          <a:p>
            <a:pPr>
              <a:lnSpc>
                <a:spcPct val="150000"/>
              </a:lnSpc>
              <a:buNone/>
            </a:pPr>
            <a:r>
              <a:rPr lang="en-US" sz="2400" b="1" dirty="0">
                <a:latin typeface="Times New Roman" panose="02020603050405020304" pitchFamily="18" charset="0"/>
                <a:cs typeface="Times New Roman" panose="02020603050405020304" pitchFamily="18" charset="0"/>
              </a:rPr>
              <a:t>Classification, Localization, Output</a:t>
            </a:r>
          </a:p>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Decides if a nodule is present.</a:t>
            </a:r>
          </a:p>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Assists in clinical decision-making.</a:t>
            </a:r>
          </a:p>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Pinpoints nodule location in the image.</a:t>
            </a:r>
          </a:p>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Displays detected nodules and their locations.</a:t>
            </a:r>
          </a:p>
          <a:p>
            <a:pPr>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Shown via bounding boxes or segmentation masks.</a:t>
            </a:r>
          </a:p>
          <a:p>
            <a:pPr>
              <a:buNone/>
            </a:pPr>
            <a:r>
              <a:rPr lang="en-IN" sz="2400" b="1" dirty="0">
                <a:latin typeface="Times New Roman" panose="02020603050405020304" pitchFamily="18" charset="0"/>
                <a:cs typeface="Times New Roman" panose="02020603050405020304" pitchFamily="18" charset="0"/>
              </a:rPr>
              <a:t>Advantages</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High Accuracy: Deep learning improves detection     </a:t>
            </a:r>
          </a:p>
          <a:p>
            <a:r>
              <a:rPr lang="en-IN" sz="2400" dirty="0">
                <a:latin typeface="Times New Roman" panose="02020603050405020304" pitchFamily="18" charset="0"/>
                <a:cs typeface="Times New Roman" panose="02020603050405020304" pitchFamily="18" charset="0"/>
              </a:rPr>
              <a:t>  performance.</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Scalable: Can </a:t>
            </a:r>
            <a:r>
              <a:rPr lang="en-IN" sz="2400" dirty="0" err="1">
                <a:latin typeface="Times New Roman" panose="02020603050405020304" pitchFamily="18" charset="0"/>
                <a:cs typeface="Times New Roman" panose="02020603050405020304" pitchFamily="18" charset="0"/>
              </a:rPr>
              <a:t>analyze</a:t>
            </a:r>
            <a:r>
              <a:rPr lang="en-IN" sz="2400" dirty="0">
                <a:latin typeface="Times New Roman" panose="02020603050405020304" pitchFamily="18" charset="0"/>
                <a:cs typeface="Times New Roman" panose="02020603050405020304" pitchFamily="18" charset="0"/>
              </a:rPr>
              <a:t> large datasets efficiently.</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Non-Invasive: Works directly on existing ultrasound images.</a:t>
            </a:r>
          </a:p>
          <a:p>
            <a:pPr>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 Assistive Tool: Supports radiologists with confidence scores   </a:t>
            </a:r>
          </a:p>
          <a:p>
            <a:r>
              <a:rPr lang="en-IN" sz="2400" dirty="0">
                <a:latin typeface="Times New Roman" panose="02020603050405020304" pitchFamily="18" charset="0"/>
                <a:cs typeface="Times New Roman" panose="02020603050405020304" pitchFamily="18" charset="0"/>
              </a:rPr>
              <a:t>   and visual cues.</a:t>
            </a:r>
          </a:p>
          <a:p>
            <a:endParaRPr lang="en-IN" dirty="0"/>
          </a:p>
        </p:txBody>
      </p:sp>
    </p:spTree>
    <p:extLst>
      <p:ext uri="{BB962C8B-B14F-4D97-AF65-F5344CB8AC3E}">
        <p14:creationId xmlns:p14="http://schemas.microsoft.com/office/powerpoint/2010/main" val="3817829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2522871-8993-230D-126E-6CEEF605F9FF}"/>
              </a:ext>
            </a:extLst>
          </p:cNvPr>
          <p:cNvSpPr>
            <a:spLocks noGrp="1"/>
          </p:cNvSpPr>
          <p:nvPr>
            <p:ph type="dt" sz="half" idx="10"/>
          </p:nvPr>
        </p:nvSpPr>
        <p:spPr/>
        <p:txBody>
          <a:bodyPr/>
          <a:lstStyle/>
          <a:p>
            <a:fld id="{5A868C45-B8CD-442D-B0C5-0941EEF617DB}" type="datetime1">
              <a:rPr lang="en-US" smtClean="0"/>
              <a:t>4/8/2025</a:t>
            </a:fld>
            <a:endParaRPr lang="en-US"/>
          </a:p>
        </p:txBody>
      </p:sp>
      <p:sp>
        <p:nvSpPr>
          <p:cNvPr id="3" name="Footer Placeholder 2">
            <a:extLst>
              <a:ext uri="{FF2B5EF4-FFF2-40B4-BE49-F238E27FC236}">
                <a16:creationId xmlns:a16="http://schemas.microsoft.com/office/drawing/2014/main" id="{492EA22B-4711-EE1E-82F2-D053DAC81C71}"/>
              </a:ext>
            </a:extLst>
          </p:cNvPr>
          <p:cNvSpPr>
            <a:spLocks noGrp="1"/>
          </p:cNvSpPr>
          <p:nvPr>
            <p:ph type="ftr" sz="quarter" idx="11"/>
          </p:nvPr>
        </p:nvSpPr>
        <p:spPr/>
        <p:txBody>
          <a:bodyPr/>
          <a:lstStyle/>
          <a:p>
            <a:r>
              <a:rPr lang="en-US"/>
              <a:t>ICDAIC-24</a:t>
            </a:r>
          </a:p>
        </p:txBody>
      </p:sp>
      <p:sp>
        <p:nvSpPr>
          <p:cNvPr id="4" name="Slide Number Placeholder 3">
            <a:extLst>
              <a:ext uri="{FF2B5EF4-FFF2-40B4-BE49-F238E27FC236}">
                <a16:creationId xmlns:a16="http://schemas.microsoft.com/office/drawing/2014/main" id="{8523BBB9-CCCF-35E7-5344-4F57FCD8DB85}"/>
              </a:ext>
            </a:extLst>
          </p:cNvPr>
          <p:cNvSpPr>
            <a:spLocks noGrp="1"/>
          </p:cNvSpPr>
          <p:nvPr>
            <p:ph type="sldNum" sz="quarter" idx="12"/>
          </p:nvPr>
        </p:nvSpPr>
        <p:spPr/>
        <p:txBody>
          <a:bodyPr/>
          <a:lstStyle/>
          <a:p>
            <a:fld id="{E685C1B2-8980-4C97-A56F-705F2C545C66}" type="slidenum">
              <a:rPr lang="en-US" smtClean="0"/>
              <a:t>11</a:t>
            </a:fld>
            <a:endParaRPr lang="en-US"/>
          </a:p>
        </p:txBody>
      </p:sp>
      <p:pic>
        <p:nvPicPr>
          <p:cNvPr id="7" name="Picture 6">
            <a:extLst>
              <a:ext uri="{FF2B5EF4-FFF2-40B4-BE49-F238E27FC236}">
                <a16:creationId xmlns:a16="http://schemas.microsoft.com/office/drawing/2014/main" id="{B5B38959-6661-D8C7-7FA4-79C810EBCBB9}"/>
              </a:ext>
            </a:extLst>
          </p:cNvPr>
          <p:cNvPicPr>
            <a:picLocks noChangeAspect="1"/>
          </p:cNvPicPr>
          <p:nvPr/>
        </p:nvPicPr>
        <p:blipFill>
          <a:blip r:embed="rId2"/>
          <a:stretch>
            <a:fillRect/>
          </a:stretch>
        </p:blipFill>
        <p:spPr>
          <a:xfrm>
            <a:off x="0" y="1126939"/>
            <a:ext cx="9144000" cy="4604122"/>
          </a:xfrm>
          <a:prstGeom prst="rect">
            <a:avLst/>
          </a:prstGeom>
        </p:spPr>
      </p:pic>
      <p:sp>
        <p:nvSpPr>
          <p:cNvPr id="8" name="TextBox 7">
            <a:extLst>
              <a:ext uri="{FF2B5EF4-FFF2-40B4-BE49-F238E27FC236}">
                <a16:creationId xmlns:a16="http://schemas.microsoft.com/office/drawing/2014/main" id="{A4EE6481-BBB4-AD3B-2DB2-AFE392218559}"/>
              </a:ext>
            </a:extLst>
          </p:cNvPr>
          <p:cNvSpPr txBox="1"/>
          <p:nvPr/>
        </p:nvSpPr>
        <p:spPr>
          <a:xfrm>
            <a:off x="447869" y="289249"/>
            <a:ext cx="426409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BLOCK DIAGRAM</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08830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latin typeface="Times New Roman" panose="02020603050405020304" pitchFamily="18" charset="0"/>
                <a:cs typeface="Times New Roman" panose="02020603050405020304" pitchFamily="18" charset="0"/>
              </a:rPr>
              <a:t>RESULTS :</a:t>
            </a:r>
          </a:p>
        </p:txBody>
      </p:sp>
      <p:sp>
        <p:nvSpPr>
          <p:cNvPr id="4" name="Date Placeholder 3"/>
          <p:cNvSpPr>
            <a:spLocks noGrp="1"/>
          </p:cNvSpPr>
          <p:nvPr>
            <p:ph type="dt" sz="half" idx="10"/>
          </p:nvPr>
        </p:nvSpPr>
        <p:spPr/>
        <p:txBody>
          <a:bodyPr/>
          <a:lstStyle/>
          <a:p>
            <a:r>
              <a:rPr lang="en-IN" altLang="en-US"/>
              <a:t>09/04/2025</a:t>
            </a:r>
          </a:p>
        </p:txBody>
      </p:sp>
      <p:sp>
        <p:nvSpPr>
          <p:cNvPr id="5" name="Footer Placeholder 4"/>
          <p:cNvSpPr>
            <a:spLocks noGrp="1"/>
          </p:cNvSpPr>
          <p:nvPr>
            <p:ph type="ftr" sz="quarter" idx="11"/>
          </p:nvPr>
        </p:nvSpPr>
        <p:spPr/>
        <p:txBody>
          <a:bodyPr/>
          <a:lstStyle/>
          <a:p>
            <a:r>
              <a:rPr lang="en-US"/>
              <a:t>ICDAIC-2</a:t>
            </a:r>
            <a:r>
              <a:rPr lang="en-IN" altLang="en-US"/>
              <a:t>5</a:t>
            </a:r>
          </a:p>
        </p:txBody>
      </p:sp>
      <p:sp>
        <p:nvSpPr>
          <p:cNvPr id="6" name="Slide Number Placeholder 5"/>
          <p:cNvSpPr>
            <a:spLocks noGrp="1"/>
          </p:cNvSpPr>
          <p:nvPr>
            <p:ph type="sldNum" sz="quarter" idx="12"/>
          </p:nvPr>
        </p:nvSpPr>
        <p:spPr/>
        <p:txBody>
          <a:bodyPr/>
          <a:lstStyle/>
          <a:p>
            <a:fld id="{E685C1B2-8980-4C97-A56F-705F2C545C66}" type="slidenum">
              <a:rPr lang="en-US" smtClean="0"/>
              <a:t>12</a:t>
            </a:fld>
            <a:endParaRPr lang="en-US"/>
          </a:p>
        </p:txBody>
      </p:sp>
      <p:sp>
        <p:nvSpPr>
          <p:cNvPr id="13" name="TextBox 12">
            <a:extLst>
              <a:ext uri="{FF2B5EF4-FFF2-40B4-BE49-F238E27FC236}">
                <a16:creationId xmlns:a16="http://schemas.microsoft.com/office/drawing/2014/main" id="{9B601CD6-98C9-5ADA-0514-9F0F2210D0EB}"/>
              </a:ext>
            </a:extLst>
          </p:cNvPr>
          <p:cNvSpPr txBox="1"/>
          <p:nvPr/>
        </p:nvSpPr>
        <p:spPr>
          <a:xfrm>
            <a:off x="774441" y="1362269"/>
            <a:ext cx="7669763" cy="1846659"/>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Outcome</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Reliable nodule detection with localization.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Confidence scoring aids clinical decisions.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Supports early diagnosis and reduces unnecessary biopsies.</a:t>
            </a:r>
          </a:p>
          <a:p>
            <a:endParaRPr lang="en-IN" dirty="0"/>
          </a:p>
        </p:txBody>
      </p:sp>
      <p:pic>
        <p:nvPicPr>
          <p:cNvPr id="14" name="Picture 13">
            <a:extLst>
              <a:ext uri="{FF2B5EF4-FFF2-40B4-BE49-F238E27FC236}">
                <a16:creationId xmlns:a16="http://schemas.microsoft.com/office/drawing/2014/main" id="{F81DD41F-2688-7D1E-FBD3-0209DD8BC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70245" y="3311565"/>
            <a:ext cx="5616405" cy="268801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523875"/>
            <a:ext cx="8899525" cy="1026795"/>
          </a:xfrm>
        </p:spPr>
        <p:txBody>
          <a:bodyPr>
            <a:normAutofit/>
          </a:bodyPr>
          <a:lstStyle/>
          <a:p>
            <a:r>
              <a:rPr lang="en-IN" sz="2800" b="1" dirty="0">
                <a:latin typeface="Times New Roman" panose="02020603050405020304" pitchFamily="18" charset="0"/>
                <a:cs typeface="Times New Roman" panose="02020603050405020304" pitchFamily="18" charset="0"/>
              </a:rPr>
              <a:t>CONCLUSION &amp; FUTURE ENHANCEMENT:</a:t>
            </a:r>
          </a:p>
        </p:txBody>
      </p:sp>
      <p:sp>
        <p:nvSpPr>
          <p:cNvPr id="3" name="Content Placeholder 2"/>
          <p:cNvSpPr>
            <a:spLocks noGrp="1"/>
          </p:cNvSpPr>
          <p:nvPr>
            <p:ph idx="1"/>
          </p:nvPr>
        </p:nvSpPr>
        <p:spPr>
          <a:xfrm>
            <a:off x="628650" y="1315616"/>
            <a:ext cx="7886700" cy="4475902"/>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Deep learning, especially CNN + VGG, is effective in thyroid nodule analysis. Combining preprocessing, augmentation, and feature fusion improves performance. This approach supports early, accurate diagnosis.</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Real-Time Detection:</a:t>
            </a:r>
            <a:r>
              <a:rPr lang="en-IN" sz="2400" dirty="0">
                <a:latin typeface="Times New Roman" panose="02020603050405020304" pitchFamily="18" charset="0"/>
                <a:cs typeface="Times New Roman" panose="02020603050405020304" pitchFamily="18" charset="0"/>
              </a:rPr>
              <a:t> Integrate into live ultrasound systems.</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Multi-Class Classification:</a:t>
            </a:r>
            <a:r>
              <a:rPr lang="en-IN" sz="2400" dirty="0">
                <a:latin typeface="Times New Roman" panose="02020603050405020304" pitchFamily="18" charset="0"/>
                <a:cs typeface="Times New Roman" panose="02020603050405020304" pitchFamily="18" charset="0"/>
              </a:rPr>
              <a:t> Distinguish between benign and malignant nodules.</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Explainable AI:</a:t>
            </a:r>
            <a:r>
              <a:rPr lang="en-IN" sz="2400" dirty="0">
                <a:latin typeface="Times New Roman" panose="02020603050405020304" pitchFamily="18" charset="0"/>
                <a:cs typeface="Times New Roman" panose="02020603050405020304" pitchFamily="18" charset="0"/>
              </a:rPr>
              <a:t> Visual explanations to improve clinical trust.</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Larger Datasets:</a:t>
            </a:r>
            <a:r>
              <a:rPr lang="en-IN" sz="2400" dirty="0">
                <a:latin typeface="Times New Roman" panose="02020603050405020304" pitchFamily="18" charset="0"/>
                <a:cs typeface="Times New Roman" panose="02020603050405020304" pitchFamily="18" charset="0"/>
              </a:rPr>
              <a:t> Train with more diverse patient data.</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Cloud Integration:</a:t>
            </a:r>
            <a:r>
              <a:rPr lang="en-IN" sz="2400" dirty="0">
                <a:latin typeface="Times New Roman" panose="02020603050405020304" pitchFamily="18" charset="0"/>
                <a:cs typeface="Times New Roman" panose="02020603050405020304" pitchFamily="18" charset="0"/>
              </a:rPr>
              <a:t> Remote access and collaboration tools.</a:t>
            </a:r>
          </a:p>
          <a:p>
            <a:pPr marL="0" indent="0">
              <a:buNone/>
            </a:pPr>
            <a:endParaRPr lang="en-US" altLang="en-US" sz="2400" dirty="0"/>
          </a:p>
        </p:txBody>
      </p:sp>
      <p:sp>
        <p:nvSpPr>
          <p:cNvPr id="4" name="Date Placeholder 3"/>
          <p:cNvSpPr>
            <a:spLocks noGrp="1"/>
          </p:cNvSpPr>
          <p:nvPr>
            <p:ph type="dt" sz="half" idx="10"/>
          </p:nvPr>
        </p:nvSpPr>
        <p:spPr/>
        <p:txBody>
          <a:bodyPr/>
          <a:lstStyle/>
          <a:p>
            <a:r>
              <a:rPr lang="en-IN" altLang="en-US"/>
              <a:t>09/04/2025</a:t>
            </a:r>
          </a:p>
        </p:txBody>
      </p:sp>
      <p:sp>
        <p:nvSpPr>
          <p:cNvPr id="5" name="Footer Placeholder 4"/>
          <p:cNvSpPr>
            <a:spLocks noGrp="1"/>
          </p:cNvSpPr>
          <p:nvPr>
            <p:ph type="ftr" sz="quarter" idx="11"/>
          </p:nvPr>
        </p:nvSpPr>
        <p:spPr/>
        <p:txBody>
          <a:bodyPr/>
          <a:lstStyle/>
          <a:p>
            <a:r>
              <a:rPr lang="en-US"/>
              <a:t>ICDAIC-2</a:t>
            </a:r>
            <a:r>
              <a:rPr lang="en-IN" altLang="en-US"/>
              <a:t>5</a:t>
            </a:r>
          </a:p>
        </p:txBody>
      </p:sp>
      <p:sp>
        <p:nvSpPr>
          <p:cNvPr id="6" name="Slide Number Placeholder 5"/>
          <p:cNvSpPr>
            <a:spLocks noGrp="1"/>
          </p:cNvSpPr>
          <p:nvPr>
            <p:ph type="sldNum" sz="quarter" idx="12"/>
          </p:nvPr>
        </p:nvSpPr>
        <p:spPr/>
        <p:txBody>
          <a:bodyPr/>
          <a:lstStyle/>
          <a:p>
            <a:fld id="{E685C1B2-8980-4C97-A56F-705F2C545C66}"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B53F7-DDF2-F9F6-5B05-E39EB834B8B0}"/>
              </a:ext>
            </a:extLst>
          </p:cNvPr>
          <p:cNvSpPr>
            <a:spLocks noGrp="1"/>
          </p:cNvSpPr>
          <p:nvPr>
            <p:ph type="title"/>
          </p:nvPr>
        </p:nvSpPr>
        <p:spPr>
          <a:xfrm>
            <a:off x="628650" y="365126"/>
            <a:ext cx="7886700" cy="651911"/>
          </a:xfrm>
        </p:spPr>
        <p:txBody>
          <a:bodyPr>
            <a:normAutofit/>
          </a:bodyPr>
          <a:lstStyle/>
          <a:p>
            <a:r>
              <a:rPr lang="en-US" sz="3200" b="1" dirty="0">
                <a:latin typeface="Times New Roman" panose="02020603050405020304" pitchFamily="18" charset="0"/>
                <a:cs typeface="Times New Roman" panose="02020603050405020304" pitchFamily="18" charset="0"/>
              </a:rPr>
              <a:t>REFERENCE</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5FADB73-0FE1-82A9-823C-DEB4FDC5160D}"/>
              </a:ext>
            </a:extLst>
          </p:cNvPr>
          <p:cNvSpPr>
            <a:spLocks noGrp="1"/>
          </p:cNvSpPr>
          <p:nvPr>
            <p:ph idx="1"/>
          </p:nvPr>
        </p:nvSpPr>
        <p:spPr>
          <a:xfrm>
            <a:off x="628650" y="1212980"/>
            <a:ext cx="7886700" cy="4963983"/>
          </a:xfrm>
        </p:spPr>
        <p:txBody>
          <a:bodyPr>
            <a:normAutofit fontScale="77500" lnSpcReduction="20000"/>
          </a:bodyPr>
          <a:lstStyle/>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Y. Hang, ‘‘Thyroid nodule classification in ultrasound images by fusion of conventional features and res-GAN deep features,’’ </a:t>
            </a:r>
            <a:r>
              <a:rPr lang="en-US" sz="2800" dirty="0" err="1">
                <a:latin typeface="Times New Roman" panose="02020603050405020304" pitchFamily="18" charset="0"/>
                <a:cs typeface="Times New Roman" panose="02020603050405020304" pitchFamily="18" charset="0"/>
              </a:rPr>
              <a:t>J.Healthcare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Eng.,vol</a:t>
            </a:r>
            <a:r>
              <a:rPr lang="en-US" sz="2800" dirty="0">
                <a:latin typeface="Times New Roman" panose="02020603050405020304" pitchFamily="18" charset="0"/>
                <a:cs typeface="Times New Roman" panose="02020603050405020304" pitchFamily="18" charset="0"/>
              </a:rPr>
              <a:t>. 2021, pp. 1–7, Jul. 2021.</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Saini, K. </a:t>
            </a:r>
            <a:r>
              <a:rPr lang="en-US" sz="2800" dirty="0" err="1">
                <a:latin typeface="Times New Roman" panose="02020603050405020304" pitchFamily="18" charset="0"/>
                <a:cs typeface="Times New Roman" panose="02020603050405020304" pitchFamily="18" charset="0"/>
              </a:rPr>
              <a:t>Guleria</a:t>
            </a:r>
            <a:r>
              <a:rPr lang="en-US" sz="2800" dirty="0">
                <a:latin typeface="Times New Roman" panose="02020603050405020304" pitchFamily="18" charset="0"/>
                <a:cs typeface="Times New Roman" panose="02020603050405020304" pitchFamily="18" charset="0"/>
              </a:rPr>
              <a:t>, and S. Sharma, ‘‘Machine learning approaches for early identification of thyroid disease,’’ in Proc. World </a:t>
            </a:r>
            <a:r>
              <a:rPr lang="en-US" sz="2800" dirty="0" err="1">
                <a:latin typeface="Times New Roman" panose="02020603050405020304" pitchFamily="18" charset="0"/>
                <a:cs typeface="Times New Roman" panose="02020603050405020304" pitchFamily="18" charset="0"/>
              </a:rPr>
              <a:t>Conf.Commun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Comput</a:t>
            </a:r>
            <a:r>
              <a:rPr lang="en-US" sz="2800" dirty="0">
                <a:latin typeface="Times New Roman" panose="02020603050405020304" pitchFamily="18" charset="0"/>
                <a:cs typeface="Times New Roman" panose="02020603050405020304" pitchFamily="18" charset="0"/>
              </a:rPr>
              <a:t>. (WCONF), Jul. 2023, pp. 1–6.</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 Khan, ‘‘Application of two-class neural network-based classification model to predict the onset of thyroid disease,’’ in Proc. 11</a:t>
            </a:r>
            <a:r>
              <a:rPr lang="en-US" sz="2800" baseline="30000" dirty="0">
                <a:latin typeface="Times New Roman" panose="02020603050405020304" pitchFamily="18" charset="0"/>
                <a:cs typeface="Times New Roman" panose="02020603050405020304" pitchFamily="18" charset="0"/>
              </a:rPr>
              <a:t>th</a:t>
            </a:r>
            <a:r>
              <a:rPr lang="en-US" sz="2800" dirty="0">
                <a:latin typeface="Times New Roman" panose="02020603050405020304" pitchFamily="18" charset="0"/>
                <a:cs typeface="Times New Roman" panose="02020603050405020304" pitchFamily="18" charset="0"/>
              </a:rPr>
              <a:t> Int. </a:t>
            </a:r>
            <a:r>
              <a:rPr lang="en-US" sz="2800" dirty="0" err="1">
                <a:latin typeface="Times New Roman" panose="02020603050405020304" pitchFamily="18" charset="0"/>
                <a:cs typeface="Times New Roman" panose="02020603050405020304" pitchFamily="18" charset="0"/>
              </a:rPr>
              <a:t>Conf.Cloud</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Comput</a:t>
            </a:r>
            <a:r>
              <a:rPr lang="en-US" sz="2800" dirty="0">
                <a:latin typeface="Times New Roman" panose="02020603050405020304" pitchFamily="18" charset="0"/>
                <a:cs typeface="Times New Roman" panose="02020603050405020304" pitchFamily="18" charset="0"/>
              </a:rPr>
              <a:t>., Data Sci. Eng., Jan. 2021, pp. 114–118.</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 Srivastava and P. Kumar, ‘‘Optimizing CNN based model for thyroid nodule classification using data augmentation, segmentation and boundary detection techniques,’’ Multimedia Tools Appl., vol. 82, no. 26, pp. 41037–41072, Nov. 2023.</a:t>
            </a:r>
          </a:p>
          <a:p>
            <a:pPr marL="571500" indent="-5715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Y. Wang and J. Gan, ‘‘Benign and malignant classification of thyroid nodules based on </a:t>
            </a:r>
            <a:r>
              <a:rPr lang="en-US" sz="2800" dirty="0" err="1">
                <a:latin typeface="Times New Roman" panose="02020603050405020304" pitchFamily="18" charset="0"/>
                <a:cs typeface="Times New Roman" panose="02020603050405020304" pitchFamily="18" charset="0"/>
              </a:rPr>
              <a:t>ConvNeXt</a:t>
            </a:r>
            <a:r>
              <a:rPr lang="en-US" sz="2800" dirty="0">
                <a:latin typeface="Times New Roman" panose="02020603050405020304" pitchFamily="18" charset="0"/>
                <a:cs typeface="Times New Roman" panose="02020603050405020304" pitchFamily="18" charset="0"/>
              </a:rPr>
              <a:t>,’’ in Proc. 3</a:t>
            </a:r>
            <a:r>
              <a:rPr lang="en-US" sz="2800" baseline="30000" dirty="0">
                <a:latin typeface="Times New Roman" panose="02020603050405020304" pitchFamily="18" charset="0"/>
                <a:cs typeface="Times New Roman" panose="02020603050405020304" pitchFamily="18" charset="0"/>
              </a:rPr>
              <a:t>rd</a:t>
            </a:r>
            <a:r>
              <a:rPr lang="en-US" sz="2800" dirty="0">
                <a:latin typeface="Times New Roman" panose="02020603050405020304" pitchFamily="18" charset="0"/>
                <a:cs typeface="Times New Roman" panose="02020603050405020304" pitchFamily="18" charset="0"/>
              </a:rPr>
              <a:t> Int. Conf. Control, Robot. </a:t>
            </a:r>
            <a:r>
              <a:rPr lang="en-US" sz="2800" dirty="0" err="1">
                <a:latin typeface="Times New Roman" panose="02020603050405020304" pitchFamily="18" charset="0"/>
                <a:cs typeface="Times New Roman" panose="02020603050405020304" pitchFamily="18" charset="0"/>
              </a:rPr>
              <a:t>Intell</a:t>
            </a:r>
            <a:r>
              <a:rPr lang="en-US" sz="2800" dirty="0">
                <a:latin typeface="Times New Roman" panose="02020603050405020304" pitchFamily="18" charset="0"/>
                <a:cs typeface="Times New Roman" panose="02020603050405020304" pitchFamily="18" charset="0"/>
              </a:rPr>
              <a:t>. Syst., Aug. 2022, pp. 56–60.</a:t>
            </a:r>
          </a:p>
          <a:p>
            <a:endParaRPr lang="en-IN" dirty="0"/>
          </a:p>
        </p:txBody>
      </p:sp>
      <p:sp>
        <p:nvSpPr>
          <p:cNvPr id="4" name="Date Placeholder 3">
            <a:extLst>
              <a:ext uri="{FF2B5EF4-FFF2-40B4-BE49-F238E27FC236}">
                <a16:creationId xmlns:a16="http://schemas.microsoft.com/office/drawing/2014/main" id="{DBA73D77-747E-49BA-AE69-C219E192068A}"/>
              </a:ext>
            </a:extLst>
          </p:cNvPr>
          <p:cNvSpPr>
            <a:spLocks noGrp="1"/>
          </p:cNvSpPr>
          <p:nvPr>
            <p:ph type="dt" sz="half" idx="10"/>
          </p:nvPr>
        </p:nvSpPr>
        <p:spPr/>
        <p:txBody>
          <a:bodyPr/>
          <a:lstStyle/>
          <a:p>
            <a:fld id="{A44BA82A-BD61-4E22-8CD0-82E66C539493}" type="datetime1">
              <a:rPr lang="en-US" smtClean="0"/>
              <a:t>4/8/2025</a:t>
            </a:fld>
            <a:endParaRPr lang="en-US"/>
          </a:p>
        </p:txBody>
      </p:sp>
      <p:sp>
        <p:nvSpPr>
          <p:cNvPr id="5" name="Footer Placeholder 4">
            <a:extLst>
              <a:ext uri="{FF2B5EF4-FFF2-40B4-BE49-F238E27FC236}">
                <a16:creationId xmlns:a16="http://schemas.microsoft.com/office/drawing/2014/main" id="{EC7D7650-7765-B872-8271-41858F6A38D6}"/>
              </a:ext>
            </a:extLst>
          </p:cNvPr>
          <p:cNvSpPr>
            <a:spLocks noGrp="1"/>
          </p:cNvSpPr>
          <p:nvPr>
            <p:ph type="ftr" sz="quarter" idx="11"/>
          </p:nvPr>
        </p:nvSpPr>
        <p:spPr/>
        <p:txBody>
          <a:bodyPr/>
          <a:lstStyle/>
          <a:p>
            <a:r>
              <a:rPr lang="en-US"/>
              <a:t>ICDAIC-24</a:t>
            </a:r>
          </a:p>
        </p:txBody>
      </p:sp>
      <p:sp>
        <p:nvSpPr>
          <p:cNvPr id="6" name="Slide Number Placeholder 5">
            <a:extLst>
              <a:ext uri="{FF2B5EF4-FFF2-40B4-BE49-F238E27FC236}">
                <a16:creationId xmlns:a16="http://schemas.microsoft.com/office/drawing/2014/main" id="{8F189272-A94E-9A40-951C-F26FCDCCD053}"/>
              </a:ext>
            </a:extLst>
          </p:cNvPr>
          <p:cNvSpPr>
            <a:spLocks noGrp="1"/>
          </p:cNvSpPr>
          <p:nvPr>
            <p:ph type="sldNum" sz="quarter" idx="12"/>
          </p:nvPr>
        </p:nvSpPr>
        <p:spPr/>
        <p:txBody>
          <a:bodyPr/>
          <a:lstStyle/>
          <a:p>
            <a:fld id="{E685C1B2-8980-4C97-A56F-705F2C545C66}" type="slidenum">
              <a:rPr lang="en-US" smtClean="0"/>
              <a:t>14</a:t>
            </a:fld>
            <a:endParaRPr lang="en-US"/>
          </a:p>
        </p:txBody>
      </p:sp>
    </p:spTree>
    <p:extLst>
      <p:ext uri="{BB962C8B-B14F-4D97-AF65-F5344CB8AC3E}">
        <p14:creationId xmlns:p14="http://schemas.microsoft.com/office/powerpoint/2010/main" val="72951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2"/>
          <p:cNvSpPr>
            <a:spLocks noGrp="1"/>
          </p:cNvSpPr>
          <p:nvPr>
            <p:ph idx="1"/>
          </p:nvPr>
        </p:nvSpPr>
        <p:spPr>
          <a:xfrm>
            <a:off x="827088" y="1628775"/>
            <a:ext cx="7772400" cy="4051300"/>
          </a:xfrm>
        </p:spPr>
        <p:txBody>
          <a:bodyPr/>
          <a:lstStyle/>
          <a:p>
            <a:pPr marL="0" indent="0" algn="ctr">
              <a:buNone/>
            </a:pPr>
            <a:r>
              <a:rPr lang="en-US" altLang="en-US" b="1" dirty="0"/>
              <a:t>	</a:t>
            </a:r>
          </a:p>
          <a:p>
            <a:pPr marL="0" indent="0" algn="ctr">
              <a:buNone/>
            </a:pPr>
            <a:endParaRPr lang="en-US" altLang="en-US" b="1" dirty="0">
              <a:solidFill>
                <a:srgbClr val="990033"/>
              </a:solidFill>
            </a:endParaRPr>
          </a:p>
          <a:p>
            <a:pPr marL="0" indent="0" algn="ctr">
              <a:buNone/>
            </a:pPr>
            <a:endParaRPr lang="en-US" altLang="en-US" b="1" dirty="0">
              <a:solidFill>
                <a:srgbClr val="990033"/>
              </a:solidFill>
            </a:endParaRPr>
          </a:p>
          <a:p>
            <a:pPr marL="0" indent="0" algn="ctr">
              <a:buNone/>
            </a:pPr>
            <a:r>
              <a:rPr lang="en-US" altLang="en-US" sz="6600" b="1" dirty="0">
                <a:solidFill>
                  <a:srgbClr val="990033"/>
                </a:solidFill>
                <a:latin typeface="Times New Roman" panose="02020603050405020304" pitchFamily="18" charset="0"/>
                <a:cs typeface="Times New Roman" panose="02020603050405020304" pitchFamily="18" charset="0"/>
              </a:rPr>
              <a:t>Thank You </a:t>
            </a:r>
          </a:p>
        </p:txBody>
      </p:sp>
      <p:sp>
        <p:nvSpPr>
          <p:cNvPr id="4" name="Slide Number Placeholder 3"/>
          <p:cNvSpPr>
            <a:spLocks noGrp="1"/>
          </p:cNvSpPr>
          <p:nvPr>
            <p:ph type="sldNum" sz="quarter" idx="12"/>
          </p:nvPr>
        </p:nvSpPr>
        <p:spPr/>
        <p:txBody>
          <a:bodyPr/>
          <a:lstStyle/>
          <a:p>
            <a:fld id="{E685C1B2-8980-4C97-A56F-705F2C545C66}" type="slidenum">
              <a:rPr lang="en-US" smtClean="0"/>
              <a:t>15</a:t>
            </a:fld>
            <a:endParaRPr lang="en-US"/>
          </a:p>
        </p:txBody>
      </p:sp>
      <p:sp>
        <p:nvSpPr>
          <p:cNvPr id="2" name="Footer Placeholder 1"/>
          <p:cNvSpPr>
            <a:spLocks noGrp="1"/>
          </p:cNvSpPr>
          <p:nvPr>
            <p:ph type="ftr" sz="quarter" idx="11"/>
          </p:nvPr>
        </p:nvSpPr>
        <p:spPr/>
        <p:txBody>
          <a:bodyPr/>
          <a:lstStyle/>
          <a:p>
            <a:r>
              <a:rPr lang="en-US"/>
              <a:t>ICDAIC-2</a:t>
            </a:r>
            <a:r>
              <a:rPr lang="en-IN" altLang="en-US"/>
              <a:t>5</a:t>
            </a:r>
          </a:p>
        </p:txBody>
      </p:sp>
      <p:sp>
        <p:nvSpPr>
          <p:cNvPr id="3" name="Date Placeholder 2"/>
          <p:cNvSpPr>
            <a:spLocks noGrp="1"/>
          </p:cNvSpPr>
          <p:nvPr>
            <p:ph type="dt" sz="half" idx="10"/>
          </p:nvPr>
        </p:nvSpPr>
        <p:spPr/>
        <p:txBody>
          <a:bodyPr/>
          <a:lstStyle/>
          <a:p>
            <a:r>
              <a:rPr lang="en-IN" altLang="en-US"/>
              <a:t>09/04/2025</a:t>
            </a:r>
            <a:endParaRPr lang="en-IN" altLang="en-US"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65</TotalTime>
  <Words>969</Words>
  <Application>Microsoft Office PowerPoint</Application>
  <PresentationFormat>On-screen Show (4:3)</PresentationFormat>
  <Paragraphs>131</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Franklin Gothic Book</vt:lpstr>
      <vt:lpstr>Times New Roman</vt:lpstr>
      <vt:lpstr>Office Theme</vt:lpstr>
      <vt:lpstr>PowerPoint Presentation</vt:lpstr>
      <vt:lpstr>OUTLINE</vt:lpstr>
      <vt:lpstr>ABSTRACT :</vt:lpstr>
      <vt:lpstr>AIM OF THE PROJECT:</vt:lpstr>
      <vt:lpstr>EXISTING SYSTEM :</vt:lpstr>
      <vt:lpstr>PROPOSED SYSTEM:</vt:lpstr>
      <vt:lpstr>TECHNOLOGY USED:</vt:lpstr>
      <vt:lpstr>MODULES :</vt:lpstr>
      <vt:lpstr>PowerPoint Presentation</vt:lpstr>
      <vt:lpstr>PowerPoint Presentation</vt:lpstr>
      <vt:lpstr>PowerPoint Presentation</vt:lpstr>
      <vt:lpstr>RESULTS :</vt:lpstr>
      <vt:lpstr>CONCLUSION &amp; FUTURE ENHANCEMENT:</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 T. Akilan</dc:title>
  <dc:creator>Akilan T</dc:creator>
  <cp:lastModifiedBy>Swetha V</cp:lastModifiedBy>
  <cp:revision>24</cp:revision>
  <dcterms:created xsi:type="dcterms:W3CDTF">2021-12-07T06:45:00Z</dcterms:created>
  <dcterms:modified xsi:type="dcterms:W3CDTF">2025-04-08T14:27:10Z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EB713540DA804FD5A671485891459B6E_13</vt:lpwstr>
  </property>
  <property fmtid="{D5CDD505-2E9C-101B-9397-08002B2CF9AE}" pid="3" name="KSOProductBuildVer">
    <vt:lpwstr>1033-12.2.0.20782</vt:lpwstr>
  </property>
</Properties>
</file>